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BM Plex Mono" panose="020B0509050203000203" pitchFamily="49" charset="0"/>
      <p:regular r:id="rId15"/>
    </p:embeddedFont>
    <p:embeddedFont>
      <p:font typeface="IBM Plex Mono Bold" panose="020B060402020202020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  <p:embeddedFont>
      <p:font typeface="Source Sans 3" panose="020B0604020202020204" charset="0"/>
      <p:regular r:id="rId19"/>
    </p:embeddedFont>
    <p:embeddedFont>
      <p:font typeface="Source Sans 3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20750" y="-1714500"/>
            <a:ext cx="6191250" cy="6191250"/>
            <a:chOff x="0" y="0"/>
            <a:chExt cx="8255000" cy="825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55000" cy="8255000"/>
            </a:xfrm>
            <a:custGeom>
              <a:avLst/>
              <a:gdLst/>
              <a:ahLst/>
              <a:cxnLst/>
              <a:rect l="l" t="t" r="r" b="b"/>
              <a:pathLst>
                <a:path w="8255000" h="8255000">
                  <a:moveTo>
                    <a:pt x="4127500" y="0"/>
                  </a:moveTo>
                  <a:cubicBezTo>
                    <a:pt x="6407055" y="0"/>
                    <a:pt x="8255000" y="1847945"/>
                    <a:pt x="8255000" y="4127500"/>
                  </a:cubicBezTo>
                  <a:cubicBezTo>
                    <a:pt x="8255000" y="6407055"/>
                    <a:pt x="6407055" y="8255000"/>
                    <a:pt x="4127500" y="8255000"/>
                  </a:cubicBezTo>
                  <a:cubicBezTo>
                    <a:pt x="1847945" y="8255000"/>
                    <a:pt x="0" y="6407055"/>
                    <a:pt x="0" y="4127500"/>
                  </a:cubicBezTo>
                  <a:cubicBezTo>
                    <a:pt x="0" y="1847945"/>
                    <a:pt x="1847945" y="0"/>
                    <a:pt x="4127500" y="0"/>
                  </a:cubicBezTo>
                  <a:close/>
                </a:path>
              </a:pathLst>
            </a:custGeom>
            <a:solidFill>
              <a:srgbClr val="D9EFFF">
                <a:alpha val="5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255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400" y="762000"/>
            <a:ext cx="11430000" cy="151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84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MERGE SORT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2247900"/>
            <a:ext cx="952500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18A999"/>
                </a:solidFill>
                <a:latin typeface="Poppins"/>
                <a:ea typeface="Poppins"/>
                <a:cs typeface="Poppins"/>
                <a:sym typeface="Poppins"/>
              </a:rPr>
              <a:t>Divide and Conquer Algorithm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572250"/>
            <a:ext cx="18105514" cy="286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3801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Presented by: Sumedha Jayesh Vanerkar  </a:t>
            </a:r>
          </a:p>
          <a:p>
            <a:pPr algn="l">
              <a:lnSpc>
                <a:spcPts val="5702"/>
              </a:lnSpc>
            </a:pPr>
            <a:r>
              <a:rPr lang="en-US" sz="3801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PRN: 25070521245</a:t>
            </a:r>
          </a:p>
          <a:p>
            <a:pPr algn="l">
              <a:lnSpc>
                <a:spcPts val="5702"/>
              </a:lnSpc>
            </a:pPr>
            <a:r>
              <a:rPr lang="en-US" sz="3801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Division/Batch: E 2026</a:t>
            </a:r>
          </a:p>
          <a:p>
            <a:pPr algn="l">
              <a:lnSpc>
                <a:spcPts val="5702"/>
              </a:lnSpc>
            </a:pPr>
            <a:r>
              <a:rPr lang="en-US" sz="3801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Symbiosis Institute of Technology, Nagpur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7239000"/>
            <a:ext cx="5715000" cy="1047750"/>
            <a:chOff x="0" y="0"/>
            <a:chExt cx="7620000" cy="1397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00" cy="1397000"/>
            </a:xfrm>
            <a:custGeom>
              <a:avLst/>
              <a:gdLst/>
              <a:ahLst/>
              <a:cxnLst/>
              <a:rect l="l" t="t" r="r" b="b"/>
              <a:pathLst>
                <a:path w="7620000" h="1397000">
                  <a:moveTo>
                    <a:pt x="21167" y="0"/>
                  </a:moveTo>
                  <a:lnTo>
                    <a:pt x="7598833" y="0"/>
                  </a:lnTo>
                  <a:cubicBezTo>
                    <a:pt x="7610523" y="0"/>
                    <a:pt x="7620000" y="9477"/>
                    <a:pt x="7620000" y="21167"/>
                  </a:cubicBezTo>
                  <a:lnTo>
                    <a:pt x="7620000" y="1375833"/>
                  </a:lnTo>
                  <a:cubicBezTo>
                    <a:pt x="7620000" y="1387523"/>
                    <a:pt x="7610523" y="1397000"/>
                    <a:pt x="7598833" y="1397000"/>
                  </a:cubicBezTo>
                  <a:lnTo>
                    <a:pt x="21167" y="1397000"/>
                  </a:lnTo>
                  <a:cubicBezTo>
                    <a:pt x="9477" y="1397000"/>
                    <a:pt x="0" y="1387523"/>
                    <a:pt x="0" y="1375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7620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2"/>
                </a:lnSpc>
              </a:pPr>
              <a:r>
                <a:rPr lang="en-US" sz="28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38   27   43   3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620000" y="7762875"/>
            <a:ext cx="2762250" cy="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10668000" y="7239000"/>
            <a:ext cx="5715000" cy="1047750"/>
            <a:chOff x="0" y="0"/>
            <a:chExt cx="7620000" cy="1397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620000" cy="1397000"/>
            </a:xfrm>
            <a:custGeom>
              <a:avLst/>
              <a:gdLst/>
              <a:ahLst/>
              <a:cxnLst/>
              <a:rect l="l" t="t" r="r" b="b"/>
              <a:pathLst>
                <a:path w="7620000" h="1397000">
                  <a:moveTo>
                    <a:pt x="21167" y="0"/>
                  </a:moveTo>
                  <a:lnTo>
                    <a:pt x="7598833" y="0"/>
                  </a:lnTo>
                  <a:cubicBezTo>
                    <a:pt x="7610523" y="0"/>
                    <a:pt x="7620000" y="9477"/>
                    <a:pt x="7620000" y="21167"/>
                  </a:cubicBezTo>
                  <a:lnTo>
                    <a:pt x="7620000" y="1375833"/>
                  </a:lnTo>
                  <a:cubicBezTo>
                    <a:pt x="7620000" y="1387523"/>
                    <a:pt x="7610523" y="1397000"/>
                    <a:pt x="7598833" y="1397000"/>
                  </a:cubicBezTo>
                  <a:lnTo>
                    <a:pt x="21167" y="1397000"/>
                  </a:lnTo>
                  <a:cubicBezTo>
                    <a:pt x="9477" y="1397000"/>
                    <a:pt x="0" y="1387523"/>
                    <a:pt x="0" y="1375833"/>
                  </a:cubicBezTo>
                  <a:lnTo>
                    <a:pt x="0" y="21167"/>
                  </a:lnTo>
                  <a:cubicBezTo>
                    <a:pt x="0" y="9477"/>
                    <a:pt x="9477" y="0"/>
                    <a:pt x="21167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7620000" cy="1387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2"/>
                </a:lnSpc>
              </a:pPr>
              <a:r>
                <a:rPr lang="en-US" sz="28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3   27   38   43</a:t>
              </a:r>
            </a:p>
          </p:txBody>
        </p:sp>
      </p:grpSp>
      <p:sp>
        <p:nvSpPr>
          <p:cNvPr id="15" name="TextBox 17">
            <a:extLst>
              <a:ext uri="{FF2B5EF4-FFF2-40B4-BE49-F238E27FC236}">
                <a16:creationId xmlns:a16="http://schemas.microsoft.com/office/drawing/2014/main" id="{07C8B6C2-4FB0-D58A-B896-0F0184A3C1FE}"/>
              </a:ext>
            </a:extLst>
          </p:cNvPr>
          <p:cNvSpPr txBox="1"/>
          <p:nvPr/>
        </p:nvSpPr>
        <p:spPr>
          <a:xfrm>
            <a:off x="609600" y="97920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387573"/>
            <a:ext cx="14933091" cy="641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6"/>
              </a:lnSpc>
            </a:pPr>
            <a:r>
              <a:rPr lang="en-US" sz="4233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Merge Sort?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327487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An efficient, stable, comparison-based sorting technique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1802011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18274" y="2157651"/>
            <a:ext cx="7857268" cy="575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Merge Sort is a sorting algorithm based on the Divide and Conquer technique.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divides an array into smaller subarrays.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continues dividing until each subarray contains only one element.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recursively sorts the smaller subarrays.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merges the sorted subarrays in the correct order.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produces a completely sorted array in ascending or descending order.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is a stable sorting algorithm when implemented correctly.</a:t>
            </a:r>
          </a:p>
          <a:p>
            <a:pPr marL="509689" lvl="1" indent="-254844" algn="l">
              <a:lnSpc>
                <a:spcPts val="3541"/>
              </a:lnSpc>
              <a:buFont typeface="Arial"/>
              <a:buChar char="•"/>
            </a:pPr>
            <a:r>
              <a:rPr lang="en-US" sz="236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It is suitable for sorting large datasets.</a:t>
            </a:r>
          </a:p>
          <a:p>
            <a:pPr algn="l">
              <a:lnSpc>
                <a:spcPts val="3541"/>
              </a:lnSpc>
            </a:pPr>
            <a:endParaRPr lang="en-US" sz="2360">
              <a:solidFill>
                <a:srgbClr val="243B5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382125" y="2047875"/>
            <a:ext cx="7953375" cy="3619500"/>
            <a:chOff x="0" y="0"/>
            <a:chExt cx="10604500" cy="48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04500" cy="4826000"/>
            </a:xfrm>
            <a:custGeom>
              <a:avLst/>
              <a:gdLst/>
              <a:ahLst/>
              <a:cxnLst/>
              <a:rect l="l" t="t" r="r" b="b"/>
              <a:pathLst>
                <a:path w="10604500" h="4826000">
                  <a:moveTo>
                    <a:pt x="0" y="0"/>
                  </a:moveTo>
                  <a:lnTo>
                    <a:pt x="10604500" y="0"/>
                  </a:lnTo>
                  <a:lnTo>
                    <a:pt x="106045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604500" cy="48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810750" y="2276475"/>
            <a:ext cx="7143750" cy="124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“Merge Sort is an efficient sorting algorithm that divides a problem into smaller parts and combines their sorted results.”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0750" y="4724400"/>
            <a:ext cx="714375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18A99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[38, 27, 43, 3]  →  [3, 27, 38, 43]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52500" y="8096250"/>
            <a:ext cx="2714625" cy="1000125"/>
            <a:chOff x="0" y="0"/>
            <a:chExt cx="3619500" cy="1333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19500" cy="1333500"/>
            </a:xfrm>
            <a:custGeom>
              <a:avLst/>
              <a:gdLst/>
              <a:ahLst/>
              <a:cxnLst/>
              <a:rect l="l" t="t" r="r" b="b"/>
              <a:pathLst>
                <a:path w="3619500" h="1333500">
                  <a:moveTo>
                    <a:pt x="44561" y="0"/>
                  </a:moveTo>
                  <a:lnTo>
                    <a:pt x="3574939" y="0"/>
                  </a:lnTo>
                  <a:cubicBezTo>
                    <a:pt x="3599549" y="0"/>
                    <a:pt x="3619500" y="19951"/>
                    <a:pt x="3619500" y="44561"/>
                  </a:cubicBezTo>
                  <a:lnTo>
                    <a:pt x="3619500" y="1288939"/>
                  </a:lnTo>
                  <a:cubicBezTo>
                    <a:pt x="3619500" y="1313549"/>
                    <a:pt x="3599549" y="1333500"/>
                    <a:pt x="3574939" y="1333500"/>
                  </a:cubicBezTo>
                  <a:lnTo>
                    <a:pt x="44561" y="1333500"/>
                  </a:lnTo>
                  <a:cubicBezTo>
                    <a:pt x="19951" y="1333500"/>
                    <a:pt x="0" y="1313549"/>
                    <a:pt x="0" y="1288939"/>
                  </a:cubicBezTo>
                  <a:lnTo>
                    <a:pt x="0" y="44561"/>
                  </a:lnTo>
                  <a:cubicBezTo>
                    <a:pt x="0" y="19951"/>
                    <a:pt x="19951" y="0"/>
                    <a:pt x="44561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36195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UNSORTED ARRAY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3744516" y="8577262"/>
            <a:ext cx="523875" cy="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4345781" y="8115300"/>
            <a:ext cx="2714625" cy="1000125"/>
            <a:chOff x="0" y="0"/>
            <a:chExt cx="3619500" cy="13335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19500" cy="1333500"/>
            </a:xfrm>
            <a:custGeom>
              <a:avLst/>
              <a:gdLst/>
              <a:ahLst/>
              <a:cxnLst/>
              <a:rect l="l" t="t" r="r" b="b"/>
              <a:pathLst>
                <a:path w="3619500" h="1333500">
                  <a:moveTo>
                    <a:pt x="44561" y="0"/>
                  </a:moveTo>
                  <a:lnTo>
                    <a:pt x="3574939" y="0"/>
                  </a:lnTo>
                  <a:cubicBezTo>
                    <a:pt x="3599549" y="0"/>
                    <a:pt x="3619500" y="19951"/>
                    <a:pt x="3619500" y="44561"/>
                  </a:cubicBezTo>
                  <a:lnTo>
                    <a:pt x="3619500" y="1288939"/>
                  </a:lnTo>
                  <a:cubicBezTo>
                    <a:pt x="3619500" y="1313549"/>
                    <a:pt x="3599549" y="1333500"/>
                    <a:pt x="3574939" y="1333500"/>
                  </a:cubicBezTo>
                  <a:lnTo>
                    <a:pt x="44561" y="1333500"/>
                  </a:lnTo>
                  <a:cubicBezTo>
                    <a:pt x="19951" y="1333500"/>
                    <a:pt x="0" y="1313549"/>
                    <a:pt x="0" y="1288939"/>
                  </a:cubicBezTo>
                  <a:lnTo>
                    <a:pt x="0" y="44561"/>
                  </a:lnTo>
                  <a:cubicBezTo>
                    <a:pt x="0" y="19951"/>
                    <a:pt x="19951" y="0"/>
                    <a:pt x="44561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6195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DIVIDE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7161609" y="8634412"/>
            <a:ext cx="523875" cy="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1" name="Group 21"/>
          <p:cNvGrpSpPr/>
          <p:nvPr/>
        </p:nvGrpSpPr>
        <p:grpSpPr>
          <a:xfrm>
            <a:off x="7786687" y="8096250"/>
            <a:ext cx="2714625" cy="1000125"/>
            <a:chOff x="0" y="0"/>
            <a:chExt cx="3619500" cy="1333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19500" cy="1333500"/>
            </a:xfrm>
            <a:custGeom>
              <a:avLst/>
              <a:gdLst/>
              <a:ahLst/>
              <a:cxnLst/>
              <a:rect l="l" t="t" r="r" b="b"/>
              <a:pathLst>
                <a:path w="3619500" h="1333500">
                  <a:moveTo>
                    <a:pt x="44561" y="0"/>
                  </a:moveTo>
                  <a:lnTo>
                    <a:pt x="3574939" y="0"/>
                  </a:lnTo>
                  <a:cubicBezTo>
                    <a:pt x="3599549" y="0"/>
                    <a:pt x="3619500" y="19951"/>
                    <a:pt x="3619500" y="44561"/>
                  </a:cubicBezTo>
                  <a:lnTo>
                    <a:pt x="3619500" y="1288939"/>
                  </a:lnTo>
                  <a:cubicBezTo>
                    <a:pt x="3619500" y="1313549"/>
                    <a:pt x="3599549" y="1333500"/>
                    <a:pt x="3574939" y="1333500"/>
                  </a:cubicBezTo>
                  <a:lnTo>
                    <a:pt x="44561" y="1333500"/>
                  </a:lnTo>
                  <a:cubicBezTo>
                    <a:pt x="19951" y="1333500"/>
                    <a:pt x="0" y="1313549"/>
                    <a:pt x="0" y="1288939"/>
                  </a:cubicBezTo>
                  <a:lnTo>
                    <a:pt x="0" y="44561"/>
                  </a:lnTo>
                  <a:cubicBezTo>
                    <a:pt x="0" y="19951"/>
                    <a:pt x="19951" y="0"/>
                    <a:pt x="44561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6195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 SMALLER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0710862" y="8577262"/>
            <a:ext cx="523875" cy="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5" name="Group 25"/>
          <p:cNvGrpSpPr/>
          <p:nvPr/>
        </p:nvGrpSpPr>
        <p:grpSpPr>
          <a:xfrm>
            <a:off x="11282362" y="8096250"/>
            <a:ext cx="2714625" cy="1000125"/>
            <a:chOff x="0" y="0"/>
            <a:chExt cx="3619500" cy="1333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19500" cy="1333500"/>
            </a:xfrm>
            <a:custGeom>
              <a:avLst/>
              <a:gdLst/>
              <a:ahLst/>
              <a:cxnLst/>
              <a:rect l="l" t="t" r="r" b="b"/>
              <a:pathLst>
                <a:path w="3619500" h="1333500">
                  <a:moveTo>
                    <a:pt x="44561" y="0"/>
                  </a:moveTo>
                  <a:lnTo>
                    <a:pt x="3574939" y="0"/>
                  </a:lnTo>
                  <a:cubicBezTo>
                    <a:pt x="3599549" y="0"/>
                    <a:pt x="3619500" y="19951"/>
                    <a:pt x="3619500" y="44561"/>
                  </a:cubicBezTo>
                  <a:lnTo>
                    <a:pt x="3619500" y="1288939"/>
                  </a:lnTo>
                  <a:cubicBezTo>
                    <a:pt x="3619500" y="1313549"/>
                    <a:pt x="3599549" y="1333500"/>
                    <a:pt x="3574939" y="1333500"/>
                  </a:cubicBezTo>
                  <a:lnTo>
                    <a:pt x="44561" y="1333500"/>
                  </a:lnTo>
                  <a:cubicBezTo>
                    <a:pt x="19951" y="1333500"/>
                    <a:pt x="0" y="1313549"/>
                    <a:pt x="0" y="1288939"/>
                  </a:cubicBezTo>
                  <a:lnTo>
                    <a:pt x="0" y="44561"/>
                  </a:lnTo>
                  <a:cubicBezTo>
                    <a:pt x="0" y="19951"/>
                    <a:pt x="19951" y="0"/>
                    <a:pt x="44561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36195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MERGE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4046994" y="8615362"/>
            <a:ext cx="523875" cy="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9" name="Group 29"/>
          <p:cNvGrpSpPr/>
          <p:nvPr/>
        </p:nvGrpSpPr>
        <p:grpSpPr>
          <a:xfrm>
            <a:off x="14620875" y="8077200"/>
            <a:ext cx="2714625" cy="1000125"/>
            <a:chOff x="0" y="0"/>
            <a:chExt cx="3619500" cy="1333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19500" cy="1333500"/>
            </a:xfrm>
            <a:custGeom>
              <a:avLst/>
              <a:gdLst/>
              <a:ahLst/>
              <a:cxnLst/>
              <a:rect l="l" t="t" r="r" b="b"/>
              <a:pathLst>
                <a:path w="3619500" h="1333500">
                  <a:moveTo>
                    <a:pt x="44561" y="0"/>
                  </a:moveTo>
                  <a:lnTo>
                    <a:pt x="3574939" y="0"/>
                  </a:lnTo>
                  <a:cubicBezTo>
                    <a:pt x="3599549" y="0"/>
                    <a:pt x="3619500" y="19951"/>
                    <a:pt x="3619500" y="44561"/>
                  </a:cubicBezTo>
                  <a:lnTo>
                    <a:pt x="3619500" y="1288939"/>
                  </a:lnTo>
                  <a:cubicBezTo>
                    <a:pt x="3619500" y="1313549"/>
                    <a:pt x="3599549" y="1333500"/>
                    <a:pt x="3574939" y="1333500"/>
                  </a:cubicBezTo>
                  <a:lnTo>
                    <a:pt x="44561" y="1333500"/>
                  </a:lnTo>
                  <a:cubicBezTo>
                    <a:pt x="19951" y="1333500"/>
                    <a:pt x="0" y="1313549"/>
                    <a:pt x="0" y="1288939"/>
                  </a:cubicBezTo>
                  <a:lnTo>
                    <a:pt x="0" y="44561"/>
                  </a:lnTo>
                  <a:cubicBezTo>
                    <a:pt x="0" y="19951"/>
                    <a:pt x="19951" y="0"/>
                    <a:pt x="44561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36195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SORTED ARRAY</a:t>
              </a:r>
            </a:p>
          </p:txBody>
        </p:sp>
      </p:grpSp>
      <p:sp>
        <p:nvSpPr>
          <p:cNvPr id="33" name="TextBox 17">
            <a:extLst>
              <a:ext uri="{FF2B5EF4-FFF2-40B4-BE49-F238E27FC236}">
                <a16:creationId xmlns:a16="http://schemas.microsoft.com/office/drawing/2014/main" id="{8185C46B-7EE4-0B73-D581-4DD3996796C8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Three Main Steps of Merge Sort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47750" y="1354258"/>
            <a:ext cx="2925519" cy="47625"/>
            <a:chOff x="0" y="0"/>
            <a:chExt cx="3900692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00692" cy="63500"/>
            </a:xfrm>
            <a:custGeom>
              <a:avLst/>
              <a:gdLst/>
              <a:ahLst/>
              <a:cxnLst/>
              <a:rect l="l" t="t" r="r" b="b"/>
              <a:pathLst>
                <a:path w="3900692" h="63500">
                  <a:moveTo>
                    <a:pt x="0" y="0"/>
                  </a:moveTo>
                  <a:lnTo>
                    <a:pt x="3900692" y="0"/>
                  </a:lnTo>
                  <a:lnTo>
                    <a:pt x="3900692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900692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095500"/>
            <a:ext cx="5143500" cy="3238500"/>
            <a:chOff x="0" y="0"/>
            <a:chExt cx="6858000" cy="4318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858000" cy="4318000"/>
            </a:xfrm>
            <a:custGeom>
              <a:avLst/>
              <a:gdLst/>
              <a:ahLst/>
              <a:cxnLst/>
              <a:rect l="l" t="t" r="r" b="b"/>
              <a:pathLst>
                <a:path w="6858000" h="4318000">
                  <a:moveTo>
                    <a:pt x="0" y="0"/>
                  </a:moveTo>
                  <a:lnTo>
                    <a:pt x="6858000" y="0"/>
                  </a:lnTo>
                  <a:lnTo>
                    <a:pt x="685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858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6350" y="3190875"/>
            <a:ext cx="2857500" cy="668503"/>
            <a:chOff x="0" y="0"/>
            <a:chExt cx="3810000" cy="8913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00" cy="891337"/>
            </a:xfrm>
            <a:custGeom>
              <a:avLst/>
              <a:gdLst/>
              <a:ahLst/>
              <a:cxnLst/>
              <a:rect l="l" t="t" r="r" b="b"/>
              <a:pathLst>
                <a:path w="3810000" h="891337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849003"/>
                  </a:lnTo>
                  <a:cubicBezTo>
                    <a:pt x="3810000" y="860231"/>
                    <a:pt x="3805540" y="870999"/>
                    <a:pt x="3797601" y="878938"/>
                  </a:cubicBezTo>
                  <a:cubicBezTo>
                    <a:pt x="3789662" y="886877"/>
                    <a:pt x="3778894" y="891337"/>
                    <a:pt x="3767667" y="891337"/>
                  </a:cubicBezTo>
                  <a:lnTo>
                    <a:pt x="42333" y="891337"/>
                  </a:lnTo>
                  <a:cubicBezTo>
                    <a:pt x="31106" y="891337"/>
                    <a:pt x="20338" y="886877"/>
                    <a:pt x="12399" y="878938"/>
                  </a:cubicBezTo>
                  <a:cubicBezTo>
                    <a:pt x="4460" y="870999"/>
                    <a:pt x="0" y="860231"/>
                    <a:pt x="0" y="849003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3810000" cy="88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40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DIVIDE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72250" y="2095500"/>
            <a:ext cx="5143500" cy="3238500"/>
            <a:chOff x="0" y="0"/>
            <a:chExt cx="6858000" cy="4318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58000" cy="4318000"/>
            </a:xfrm>
            <a:custGeom>
              <a:avLst/>
              <a:gdLst/>
              <a:ahLst/>
              <a:cxnLst/>
              <a:rect l="l" t="t" r="r" b="b"/>
              <a:pathLst>
                <a:path w="6858000" h="4318000">
                  <a:moveTo>
                    <a:pt x="0" y="0"/>
                  </a:moveTo>
                  <a:lnTo>
                    <a:pt x="6858000" y="0"/>
                  </a:lnTo>
                  <a:lnTo>
                    <a:pt x="685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858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34200" y="3190875"/>
            <a:ext cx="2857500" cy="668503"/>
            <a:chOff x="0" y="0"/>
            <a:chExt cx="3810000" cy="8913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00" cy="891337"/>
            </a:xfrm>
            <a:custGeom>
              <a:avLst/>
              <a:gdLst/>
              <a:ahLst/>
              <a:cxnLst/>
              <a:rect l="l" t="t" r="r" b="b"/>
              <a:pathLst>
                <a:path w="3810000" h="891337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849003"/>
                  </a:lnTo>
                  <a:cubicBezTo>
                    <a:pt x="3810000" y="860231"/>
                    <a:pt x="3805540" y="870999"/>
                    <a:pt x="3797601" y="878938"/>
                  </a:cubicBezTo>
                  <a:cubicBezTo>
                    <a:pt x="3789662" y="886877"/>
                    <a:pt x="3778894" y="891337"/>
                    <a:pt x="3767667" y="891337"/>
                  </a:cubicBezTo>
                  <a:lnTo>
                    <a:pt x="42333" y="891337"/>
                  </a:lnTo>
                  <a:cubicBezTo>
                    <a:pt x="31106" y="891337"/>
                    <a:pt x="20338" y="886877"/>
                    <a:pt x="12399" y="878938"/>
                  </a:cubicBezTo>
                  <a:cubicBezTo>
                    <a:pt x="4460" y="870999"/>
                    <a:pt x="0" y="860231"/>
                    <a:pt x="0" y="849003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810000" cy="88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40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CONQUER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30100" y="2095500"/>
            <a:ext cx="5143500" cy="3238500"/>
            <a:chOff x="0" y="0"/>
            <a:chExt cx="6858000" cy="4318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58000" cy="4318000"/>
            </a:xfrm>
            <a:custGeom>
              <a:avLst/>
              <a:gdLst/>
              <a:ahLst/>
              <a:cxnLst/>
              <a:rect l="l" t="t" r="r" b="b"/>
              <a:pathLst>
                <a:path w="6858000" h="4318000">
                  <a:moveTo>
                    <a:pt x="0" y="0"/>
                  </a:moveTo>
                  <a:lnTo>
                    <a:pt x="6858000" y="0"/>
                  </a:lnTo>
                  <a:lnTo>
                    <a:pt x="6858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858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592050" y="3190875"/>
            <a:ext cx="2857500" cy="668503"/>
            <a:chOff x="0" y="0"/>
            <a:chExt cx="3810000" cy="8913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810000" cy="891337"/>
            </a:xfrm>
            <a:custGeom>
              <a:avLst/>
              <a:gdLst/>
              <a:ahLst/>
              <a:cxnLst/>
              <a:rect l="l" t="t" r="r" b="b"/>
              <a:pathLst>
                <a:path w="3810000" h="891337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849003"/>
                  </a:lnTo>
                  <a:cubicBezTo>
                    <a:pt x="3810000" y="860231"/>
                    <a:pt x="3805540" y="870999"/>
                    <a:pt x="3797601" y="878938"/>
                  </a:cubicBezTo>
                  <a:cubicBezTo>
                    <a:pt x="3789662" y="886877"/>
                    <a:pt x="3778894" y="891337"/>
                    <a:pt x="3767667" y="891337"/>
                  </a:cubicBezTo>
                  <a:lnTo>
                    <a:pt x="42333" y="891337"/>
                  </a:lnTo>
                  <a:cubicBezTo>
                    <a:pt x="31106" y="891337"/>
                    <a:pt x="20338" y="886877"/>
                    <a:pt x="12399" y="878938"/>
                  </a:cubicBezTo>
                  <a:cubicBezTo>
                    <a:pt x="4460" y="870999"/>
                    <a:pt x="0" y="860231"/>
                    <a:pt x="0" y="849003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3810000" cy="88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40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COMBINE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6350" y="2219325"/>
            <a:ext cx="9525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4AA8D8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6350" y="3971925"/>
            <a:ext cx="4333875" cy="101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Split the original array into two smaller halves repeatedly until each subarray contains one element.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34200" y="2219325"/>
            <a:ext cx="9525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4AA8D8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34200" y="3971925"/>
            <a:ext cx="4333875" cy="6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Recursively sort the smaller subarrays. A single-element array is already sorted.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592050" y="2219325"/>
            <a:ext cx="9525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18A999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92050" y="3971925"/>
            <a:ext cx="4333875" cy="170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Merge the sorted subarrays by comparing their elements to produce one completely sorted array.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243B5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243B5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762000" y="6953250"/>
            <a:ext cx="2857500" cy="857250"/>
            <a:chOff x="0" y="0"/>
            <a:chExt cx="3810000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3"/>
                </a:lnSpc>
              </a:pPr>
              <a:r>
                <a:rPr lang="en-US" sz="157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Original Array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>
            <a:off x="3667125" y="7381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4" name="Group 34"/>
          <p:cNvGrpSpPr/>
          <p:nvPr/>
        </p:nvGrpSpPr>
        <p:grpSpPr>
          <a:xfrm>
            <a:off x="4238625" y="6953250"/>
            <a:ext cx="2857500" cy="857250"/>
            <a:chOff x="0" y="0"/>
            <a:chExt cx="3810000" cy="1143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3"/>
                </a:lnSpc>
              </a:pPr>
              <a:r>
                <a:rPr lang="en-US" sz="157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Divide into Halves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7143750" y="7381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8" name="Group 38"/>
          <p:cNvGrpSpPr/>
          <p:nvPr/>
        </p:nvGrpSpPr>
        <p:grpSpPr>
          <a:xfrm>
            <a:off x="7715250" y="6953250"/>
            <a:ext cx="2857500" cy="857250"/>
            <a:chOff x="0" y="0"/>
            <a:chExt cx="3810000" cy="1143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3"/>
                </a:lnSpc>
              </a:pPr>
              <a:r>
                <a:rPr lang="en-US" sz="157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Recursively Sort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10620375" y="7381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2" name="Group 42"/>
          <p:cNvGrpSpPr/>
          <p:nvPr/>
        </p:nvGrpSpPr>
        <p:grpSpPr>
          <a:xfrm>
            <a:off x="11191875" y="6953250"/>
            <a:ext cx="2857500" cy="857250"/>
            <a:chOff x="0" y="0"/>
            <a:chExt cx="3810000" cy="1143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3"/>
                </a:lnSpc>
              </a:pPr>
              <a:r>
                <a:rPr lang="en-US" sz="157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Merge Halves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14097000" y="7381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6" name="Group 46"/>
          <p:cNvGrpSpPr/>
          <p:nvPr/>
        </p:nvGrpSpPr>
        <p:grpSpPr>
          <a:xfrm>
            <a:off x="14668500" y="6953250"/>
            <a:ext cx="2857500" cy="857250"/>
            <a:chOff x="0" y="0"/>
            <a:chExt cx="3810000" cy="1143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3"/>
                </a:lnSpc>
              </a:pPr>
              <a:r>
                <a:rPr lang="en-US" sz="157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Sorted Array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2476500" y="8515350"/>
            <a:ext cx="13335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Divide and Conquer makes a complex sorting problem easier by breaking it into smaller subproblems.</a:t>
            </a: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E36E7AF7-47A5-29A0-2D33-4DF0B9717198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22479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Phase 1 — Divide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020604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 the middle, split into halves, and repeat until every subarray has one element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52500" y="1495425"/>
            <a:ext cx="2667000" cy="47625"/>
            <a:chOff x="0" y="0"/>
            <a:chExt cx="3556000" cy="63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56000" cy="63500"/>
            </a:xfrm>
            <a:custGeom>
              <a:avLst/>
              <a:gdLst/>
              <a:ahLst/>
              <a:cxnLst/>
              <a:rect l="l" t="t" r="r" b="b"/>
              <a:pathLst>
                <a:path w="3556000" h="63500">
                  <a:moveTo>
                    <a:pt x="0" y="0"/>
                  </a:moveTo>
                  <a:lnTo>
                    <a:pt x="3556000" y="0"/>
                  </a:lnTo>
                  <a:lnTo>
                    <a:pt x="3556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56000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10250" y="2095500"/>
            <a:ext cx="6667500" cy="762000"/>
            <a:chOff x="0" y="0"/>
            <a:chExt cx="8890000" cy="10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00" cy="1016000"/>
            </a:xfrm>
            <a:custGeom>
              <a:avLst/>
              <a:gdLst/>
              <a:ahLst/>
              <a:cxnLst/>
              <a:rect l="l" t="t" r="r" b="b"/>
              <a:pathLst>
                <a:path w="8890000" h="1016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997857"/>
                  </a:lnTo>
                  <a:cubicBezTo>
                    <a:pt x="8890000" y="1007877"/>
                    <a:pt x="8881877" y="1016000"/>
                    <a:pt x="8871857" y="1016000"/>
                  </a:cubicBezTo>
                  <a:lnTo>
                    <a:pt x="18143" y="1016000"/>
                  </a:lnTo>
                  <a:cubicBezTo>
                    <a:pt x="8123" y="1016000"/>
                    <a:pt x="0" y="1007877"/>
                    <a:pt x="0" y="997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8890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6"/>
                </a:lnSpc>
              </a:pPr>
              <a:r>
                <a:rPr lang="en-US" sz="20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27, 43, 3, 9, 82, 10, 5]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572125" y="2876550"/>
            <a:ext cx="3571875" cy="95250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9144000" y="2876550"/>
            <a:ext cx="3571875" cy="95250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" name="Group 12"/>
          <p:cNvGrpSpPr/>
          <p:nvPr/>
        </p:nvGrpSpPr>
        <p:grpSpPr>
          <a:xfrm>
            <a:off x="3333750" y="3905250"/>
            <a:ext cx="4476750" cy="762000"/>
            <a:chOff x="0" y="0"/>
            <a:chExt cx="5969000" cy="101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0" cy="1016000"/>
            </a:xfrm>
            <a:custGeom>
              <a:avLst/>
              <a:gdLst/>
              <a:ahLst/>
              <a:cxnLst/>
              <a:rect l="l" t="t" r="r" b="b"/>
              <a:pathLst>
                <a:path w="5969000" h="1016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988979"/>
                  </a:lnTo>
                  <a:cubicBezTo>
                    <a:pt x="5969000" y="996145"/>
                    <a:pt x="5966153" y="1003018"/>
                    <a:pt x="5961086" y="1008086"/>
                  </a:cubicBezTo>
                  <a:cubicBezTo>
                    <a:pt x="5956018" y="1013153"/>
                    <a:pt x="5949145" y="1016000"/>
                    <a:pt x="5941979" y="1016000"/>
                  </a:cubicBezTo>
                  <a:lnTo>
                    <a:pt x="27021" y="1016000"/>
                  </a:lnTo>
                  <a:cubicBezTo>
                    <a:pt x="19855" y="1016000"/>
                    <a:pt x="12982" y="1013153"/>
                    <a:pt x="7914" y="1008086"/>
                  </a:cubicBezTo>
                  <a:cubicBezTo>
                    <a:pt x="2847" y="1003018"/>
                    <a:pt x="0" y="996145"/>
                    <a:pt x="0" y="988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596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27, 43, 3]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3000375" y="4686300"/>
            <a:ext cx="2571750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6" name="AutoShape 16"/>
          <p:cNvSpPr/>
          <p:nvPr/>
        </p:nvSpPr>
        <p:spPr>
          <a:xfrm>
            <a:off x="5572125" y="4686300"/>
            <a:ext cx="1238250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7" name="Group 17"/>
          <p:cNvGrpSpPr/>
          <p:nvPr/>
        </p:nvGrpSpPr>
        <p:grpSpPr>
          <a:xfrm>
            <a:off x="10477500" y="3905250"/>
            <a:ext cx="4476750" cy="762000"/>
            <a:chOff x="0" y="0"/>
            <a:chExt cx="5969000" cy="10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69000" cy="1016000"/>
            </a:xfrm>
            <a:custGeom>
              <a:avLst/>
              <a:gdLst/>
              <a:ahLst/>
              <a:cxnLst/>
              <a:rect l="l" t="t" r="r" b="b"/>
              <a:pathLst>
                <a:path w="5969000" h="1016000">
                  <a:moveTo>
                    <a:pt x="27021" y="0"/>
                  </a:moveTo>
                  <a:lnTo>
                    <a:pt x="5941979" y="0"/>
                  </a:lnTo>
                  <a:cubicBezTo>
                    <a:pt x="5949145" y="0"/>
                    <a:pt x="5956018" y="2847"/>
                    <a:pt x="5961086" y="7914"/>
                  </a:cubicBezTo>
                  <a:cubicBezTo>
                    <a:pt x="5966153" y="12982"/>
                    <a:pt x="5969000" y="19855"/>
                    <a:pt x="5969000" y="27021"/>
                  </a:cubicBezTo>
                  <a:lnTo>
                    <a:pt x="5969000" y="988979"/>
                  </a:lnTo>
                  <a:cubicBezTo>
                    <a:pt x="5969000" y="996145"/>
                    <a:pt x="5966153" y="1003018"/>
                    <a:pt x="5961086" y="1008086"/>
                  </a:cubicBezTo>
                  <a:cubicBezTo>
                    <a:pt x="5956018" y="1013153"/>
                    <a:pt x="5949145" y="1016000"/>
                    <a:pt x="5941979" y="1016000"/>
                  </a:cubicBezTo>
                  <a:lnTo>
                    <a:pt x="27021" y="1016000"/>
                  </a:lnTo>
                  <a:cubicBezTo>
                    <a:pt x="19855" y="1016000"/>
                    <a:pt x="12982" y="1013153"/>
                    <a:pt x="7914" y="1008086"/>
                  </a:cubicBezTo>
                  <a:cubicBezTo>
                    <a:pt x="2847" y="1003018"/>
                    <a:pt x="0" y="996145"/>
                    <a:pt x="0" y="988979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596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82, 10, 5]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 flipH="1">
            <a:off x="10620375" y="4686300"/>
            <a:ext cx="2095500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>
            <a:off x="12715875" y="4686300"/>
            <a:ext cx="1714500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524000" y="5810250"/>
            <a:ext cx="2952750" cy="762000"/>
            <a:chOff x="0" y="0"/>
            <a:chExt cx="3937000" cy="1016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37000" cy="1016000"/>
            </a:xfrm>
            <a:custGeom>
              <a:avLst/>
              <a:gdLst/>
              <a:ahLst/>
              <a:cxnLst/>
              <a:rect l="l" t="t" r="r" b="b"/>
              <a:pathLst>
                <a:path w="3937000" h="1016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975032"/>
                  </a:lnTo>
                  <a:cubicBezTo>
                    <a:pt x="3937000" y="985898"/>
                    <a:pt x="3932684" y="996318"/>
                    <a:pt x="3925001" y="1004001"/>
                  </a:cubicBezTo>
                  <a:cubicBezTo>
                    <a:pt x="3917318" y="1011684"/>
                    <a:pt x="3906898" y="1016000"/>
                    <a:pt x="3896032" y="1016000"/>
                  </a:cubicBezTo>
                  <a:lnTo>
                    <a:pt x="40968" y="1016000"/>
                  </a:lnTo>
                  <a:cubicBezTo>
                    <a:pt x="30102" y="1016000"/>
                    <a:pt x="19682" y="1011684"/>
                    <a:pt x="11999" y="1004001"/>
                  </a:cubicBezTo>
                  <a:cubicBezTo>
                    <a:pt x="4316" y="996318"/>
                    <a:pt x="0" y="985898"/>
                    <a:pt x="0" y="975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9525"/>
              <a:ext cx="3937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27]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flipH="1">
            <a:off x="1524000" y="6591300"/>
            <a:ext cx="147637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AutoShape 26"/>
          <p:cNvSpPr/>
          <p:nvPr/>
        </p:nvSpPr>
        <p:spPr>
          <a:xfrm>
            <a:off x="3000375" y="6591300"/>
            <a:ext cx="61912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5334000" y="5810250"/>
            <a:ext cx="2952750" cy="762000"/>
            <a:chOff x="0" y="0"/>
            <a:chExt cx="3937000" cy="1016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37000" cy="1016000"/>
            </a:xfrm>
            <a:custGeom>
              <a:avLst/>
              <a:gdLst/>
              <a:ahLst/>
              <a:cxnLst/>
              <a:rect l="l" t="t" r="r" b="b"/>
              <a:pathLst>
                <a:path w="3937000" h="1016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975032"/>
                  </a:lnTo>
                  <a:cubicBezTo>
                    <a:pt x="3937000" y="985898"/>
                    <a:pt x="3932684" y="996318"/>
                    <a:pt x="3925001" y="1004001"/>
                  </a:cubicBezTo>
                  <a:cubicBezTo>
                    <a:pt x="3917318" y="1011684"/>
                    <a:pt x="3906898" y="1016000"/>
                    <a:pt x="3896032" y="1016000"/>
                  </a:cubicBezTo>
                  <a:lnTo>
                    <a:pt x="40968" y="1016000"/>
                  </a:lnTo>
                  <a:cubicBezTo>
                    <a:pt x="30102" y="1016000"/>
                    <a:pt x="19682" y="1011684"/>
                    <a:pt x="11999" y="1004001"/>
                  </a:cubicBezTo>
                  <a:cubicBezTo>
                    <a:pt x="4316" y="996318"/>
                    <a:pt x="0" y="985898"/>
                    <a:pt x="0" y="975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937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[43, 3]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 flipH="1">
            <a:off x="5715000" y="6591300"/>
            <a:ext cx="109537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6810375" y="6591300"/>
            <a:ext cx="100012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9144000" y="5810250"/>
            <a:ext cx="2952750" cy="762000"/>
            <a:chOff x="0" y="0"/>
            <a:chExt cx="3937000" cy="1016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937000" cy="1016000"/>
            </a:xfrm>
            <a:custGeom>
              <a:avLst/>
              <a:gdLst/>
              <a:ahLst/>
              <a:cxnLst/>
              <a:rect l="l" t="t" r="r" b="b"/>
              <a:pathLst>
                <a:path w="3937000" h="1016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975032"/>
                  </a:lnTo>
                  <a:cubicBezTo>
                    <a:pt x="3937000" y="985898"/>
                    <a:pt x="3932684" y="996318"/>
                    <a:pt x="3925001" y="1004001"/>
                  </a:cubicBezTo>
                  <a:cubicBezTo>
                    <a:pt x="3917318" y="1011684"/>
                    <a:pt x="3906898" y="1016000"/>
                    <a:pt x="3896032" y="1016000"/>
                  </a:cubicBezTo>
                  <a:lnTo>
                    <a:pt x="40968" y="1016000"/>
                  </a:lnTo>
                  <a:cubicBezTo>
                    <a:pt x="30102" y="1016000"/>
                    <a:pt x="19682" y="1011684"/>
                    <a:pt x="11999" y="1004001"/>
                  </a:cubicBezTo>
                  <a:cubicBezTo>
                    <a:pt x="4316" y="996318"/>
                    <a:pt x="0" y="985898"/>
                    <a:pt x="0" y="975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9525"/>
              <a:ext cx="3937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82]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 flipH="1">
            <a:off x="9906000" y="6591300"/>
            <a:ext cx="71437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6" name="AutoShape 36"/>
          <p:cNvSpPr/>
          <p:nvPr/>
        </p:nvSpPr>
        <p:spPr>
          <a:xfrm>
            <a:off x="10620375" y="6591300"/>
            <a:ext cx="138112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12954000" y="5810250"/>
            <a:ext cx="2952750" cy="762000"/>
            <a:chOff x="0" y="0"/>
            <a:chExt cx="3937000" cy="1016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937000" cy="1016000"/>
            </a:xfrm>
            <a:custGeom>
              <a:avLst/>
              <a:gdLst/>
              <a:ahLst/>
              <a:cxnLst/>
              <a:rect l="l" t="t" r="r" b="b"/>
              <a:pathLst>
                <a:path w="3937000" h="1016000">
                  <a:moveTo>
                    <a:pt x="40968" y="0"/>
                  </a:moveTo>
                  <a:lnTo>
                    <a:pt x="3896032" y="0"/>
                  </a:lnTo>
                  <a:cubicBezTo>
                    <a:pt x="3906898" y="0"/>
                    <a:pt x="3917318" y="4316"/>
                    <a:pt x="3925001" y="11999"/>
                  </a:cubicBezTo>
                  <a:cubicBezTo>
                    <a:pt x="3932684" y="19682"/>
                    <a:pt x="3937000" y="30102"/>
                    <a:pt x="3937000" y="40968"/>
                  </a:cubicBezTo>
                  <a:lnTo>
                    <a:pt x="3937000" y="975032"/>
                  </a:lnTo>
                  <a:cubicBezTo>
                    <a:pt x="3937000" y="985898"/>
                    <a:pt x="3932684" y="996318"/>
                    <a:pt x="3925001" y="1004001"/>
                  </a:cubicBezTo>
                  <a:cubicBezTo>
                    <a:pt x="3917318" y="1011684"/>
                    <a:pt x="3906898" y="1016000"/>
                    <a:pt x="3896032" y="1016000"/>
                  </a:cubicBezTo>
                  <a:lnTo>
                    <a:pt x="40968" y="1016000"/>
                  </a:lnTo>
                  <a:cubicBezTo>
                    <a:pt x="30102" y="1016000"/>
                    <a:pt x="19682" y="1011684"/>
                    <a:pt x="11999" y="1004001"/>
                  </a:cubicBezTo>
                  <a:cubicBezTo>
                    <a:pt x="4316" y="996318"/>
                    <a:pt x="0" y="985898"/>
                    <a:pt x="0" y="975032"/>
                  </a:cubicBezTo>
                  <a:lnTo>
                    <a:pt x="0" y="40968"/>
                  </a:lnTo>
                  <a:cubicBezTo>
                    <a:pt x="0" y="30102"/>
                    <a:pt x="4316" y="19682"/>
                    <a:pt x="11999" y="11999"/>
                  </a:cubicBezTo>
                  <a:cubicBezTo>
                    <a:pt x="19682" y="4316"/>
                    <a:pt x="30102" y="0"/>
                    <a:pt x="40968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3937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[10, 5]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flipH="1">
            <a:off x="14097000" y="6591300"/>
            <a:ext cx="33337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1" name="AutoShape 41"/>
          <p:cNvSpPr/>
          <p:nvPr/>
        </p:nvSpPr>
        <p:spPr>
          <a:xfrm>
            <a:off x="14430375" y="6591300"/>
            <a:ext cx="1762125" cy="1047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2" name="Group 42"/>
          <p:cNvGrpSpPr/>
          <p:nvPr/>
        </p:nvGrpSpPr>
        <p:grpSpPr>
          <a:xfrm>
            <a:off x="714375" y="7715250"/>
            <a:ext cx="1619250" cy="762000"/>
            <a:chOff x="0" y="0"/>
            <a:chExt cx="2159000" cy="1016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[38]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809875" y="7715250"/>
            <a:ext cx="1619250" cy="762000"/>
            <a:chOff x="0" y="0"/>
            <a:chExt cx="2159000" cy="1016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[27]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905375" y="7715250"/>
            <a:ext cx="1619250" cy="762000"/>
            <a:chOff x="0" y="0"/>
            <a:chExt cx="2159000" cy="10160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[43]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000875" y="7715250"/>
            <a:ext cx="1619250" cy="762000"/>
            <a:chOff x="0" y="0"/>
            <a:chExt cx="2159000" cy="1016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[3]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96375" y="7715250"/>
            <a:ext cx="1619250" cy="762000"/>
            <a:chOff x="0" y="0"/>
            <a:chExt cx="2159000" cy="10160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[9]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191875" y="7715250"/>
            <a:ext cx="1619250" cy="762000"/>
            <a:chOff x="0" y="0"/>
            <a:chExt cx="2159000" cy="1016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[82]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287375" y="7715250"/>
            <a:ext cx="1619250" cy="762000"/>
            <a:chOff x="0" y="0"/>
            <a:chExt cx="2159000" cy="10160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[10]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382875" y="7715250"/>
            <a:ext cx="1619250" cy="762000"/>
            <a:chOff x="0" y="0"/>
            <a:chExt cx="2159000" cy="10160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59000" cy="1016000"/>
            </a:xfrm>
            <a:custGeom>
              <a:avLst/>
              <a:gdLst/>
              <a:ahLst/>
              <a:cxnLst/>
              <a:rect l="l" t="t" r="r" b="b"/>
              <a:pathLst>
                <a:path w="2159000" h="1016000">
                  <a:moveTo>
                    <a:pt x="74706" y="0"/>
                  </a:moveTo>
                  <a:lnTo>
                    <a:pt x="2084294" y="0"/>
                  </a:lnTo>
                  <a:cubicBezTo>
                    <a:pt x="2104107" y="0"/>
                    <a:pt x="2123109" y="7871"/>
                    <a:pt x="2137119" y="21881"/>
                  </a:cubicBezTo>
                  <a:cubicBezTo>
                    <a:pt x="2151129" y="35891"/>
                    <a:pt x="2159000" y="54893"/>
                    <a:pt x="2159000" y="74706"/>
                  </a:cubicBezTo>
                  <a:lnTo>
                    <a:pt x="2159000" y="941294"/>
                  </a:lnTo>
                  <a:cubicBezTo>
                    <a:pt x="2159000" y="961107"/>
                    <a:pt x="2151129" y="980109"/>
                    <a:pt x="2137119" y="994119"/>
                  </a:cubicBezTo>
                  <a:cubicBezTo>
                    <a:pt x="2123109" y="1008129"/>
                    <a:pt x="2104107" y="1016000"/>
                    <a:pt x="2084294" y="1016000"/>
                  </a:cubicBezTo>
                  <a:lnTo>
                    <a:pt x="74706" y="1016000"/>
                  </a:lnTo>
                  <a:cubicBezTo>
                    <a:pt x="54893" y="1016000"/>
                    <a:pt x="35891" y="1008129"/>
                    <a:pt x="21881" y="994119"/>
                  </a:cubicBezTo>
                  <a:cubicBezTo>
                    <a:pt x="7871" y="980109"/>
                    <a:pt x="0" y="961107"/>
                    <a:pt x="0" y="941294"/>
                  </a:cubicBezTo>
                  <a:lnTo>
                    <a:pt x="0" y="74706"/>
                  </a:lnTo>
                  <a:cubicBezTo>
                    <a:pt x="0" y="54893"/>
                    <a:pt x="7871" y="35891"/>
                    <a:pt x="21881" y="21881"/>
                  </a:cubicBezTo>
                  <a:cubicBezTo>
                    <a:pt x="35891" y="7871"/>
                    <a:pt x="54893" y="0"/>
                    <a:pt x="74706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9525"/>
              <a:ext cx="2159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[5]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5250" y="1639337"/>
            <a:ext cx="971723" cy="443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1530" b="1">
                <a:solidFill>
                  <a:srgbClr val="627D9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LEVEL 1</a:t>
            </a: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r>
              <a:rPr lang="en-US" sz="1530" b="1">
                <a:solidFill>
                  <a:srgbClr val="627D9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LEVEL 2</a:t>
            </a: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r>
              <a:rPr lang="en-US" sz="1530" b="1">
                <a:solidFill>
                  <a:srgbClr val="627D9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LEVEL 3</a:t>
            </a: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endParaRPr lang="en-US" sz="1530" b="1">
              <a:solidFill>
                <a:srgbClr val="627D98"/>
              </a:solidFill>
              <a:latin typeface="Source Sans 3 Bold"/>
              <a:ea typeface="Source Sans 3 Bold"/>
              <a:cs typeface="Source Sans 3 Bold"/>
              <a:sym typeface="Source Sans 3 Bold"/>
            </a:endParaRPr>
          </a:p>
          <a:p>
            <a:pPr algn="l">
              <a:lnSpc>
                <a:spcPts val="3596"/>
              </a:lnSpc>
            </a:pPr>
            <a:r>
              <a:rPr lang="en-US" sz="1530" b="1">
                <a:solidFill>
                  <a:srgbClr val="627D9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LEVEL 4</a:t>
            </a:r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4EA2BFC1-229F-BA39-C865-13E0130C4A4C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Phase 2 — Conquer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Recursion reaches the base case; then merging begins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28750" y="2000250"/>
            <a:ext cx="15430500" cy="1178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A single-element array is already sorted — this is the base case.</a:t>
            </a:r>
          </a:p>
          <a:p>
            <a:pPr algn="l">
              <a:lnSpc>
                <a:spcPts val="3153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Recursion turns one large sorting task into many small tasks.</a:t>
            </a:r>
          </a:p>
          <a:p>
            <a:pPr algn="l">
              <a:lnSpc>
                <a:spcPts val="3153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Once every branch reaches the base case, control returns upward and sorted pieces are merged.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4953000"/>
            <a:ext cx="1524000" cy="762000"/>
            <a:chOff x="0" y="0"/>
            <a:chExt cx="2032000" cy="10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[38]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48000" y="4953000"/>
            <a:ext cx="1524000" cy="762000"/>
            <a:chOff x="0" y="0"/>
            <a:chExt cx="2032000" cy="101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[27]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0" y="4953000"/>
            <a:ext cx="1524000" cy="762000"/>
            <a:chOff x="0" y="0"/>
            <a:chExt cx="2032000" cy="1016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[43]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239000" y="4953000"/>
            <a:ext cx="1524000" cy="762000"/>
            <a:chOff x="0" y="0"/>
            <a:chExt cx="2032000" cy="10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[3]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34500" y="4953000"/>
            <a:ext cx="1524000" cy="762000"/>
            <a:chOff x="0" y="0"/>
            <a:chExt cx="2032000" cy="1016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[9]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0" y="4953000"/>
            <a:ext cx="1524000" cy="762000"/>
            <a:chOff x="0" y="0"/>
            <a:chExt cx="2032000" cy="1016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[82]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525500" y="4953000"/>
            <a:ext cx="1524000" cy="762000"/>
            <a:chOff x="0" y="0"/>
            <a:chExt cx="2032000" cy="1016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[10]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5621000" y="4953000"/>
            <a:ext cx="1524000" cy="762000"/>
            <a:chOff x="0" y="0"/>
            <a:chExt cx="2032000" cy="1016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0" cy="1016000"/>
            </a:xfrm>
            <a:custGeom>
              <a:avLst/>
              <a:gdLst/>
              <a:ahLst/>
              <a:cxnLst/>
              <a:rect l="l" t="t" r="r" b="b"/>
              <a:pathLst>
                <a:path w="2032000" h="1016000">
                  <a:moveTo>
                    <a:pt x="79375" y="0"/>
                  </a:moveTo>
                  <a:lnTo>
                    <a:pt x="1952625" y="0"/>
                  </a:lnTo>
                  <a:cubicBezTo>
                    <a:pt x="1996463" y="0"/>
                    <a:pt x="2032000" y="35537"/>
                    <a:pt x="2032000" y="79375"/>
                  </a:cubicBezTo>
                  <a:lnTo>
                    <a:pt x="2032000" y="936625"/>
                  </a:lnTo>
                  <a:cubicBezTo>
                    <a:pt x="2032000" y="980463"/>
                    <a:pt x="1996463" y="1016000"/>
                    <a:pt x="1952625" y="1016000"/>
                  </a:cubicBezTo>
                  <a:lnTo>
                    <a:pt x="79375" y="1016000"/>
                  </a:lnTo>
                  <a:cubicBezTo>
                    <a:pt x="35537" y="1016000"/>
                    <a:pt x="0" y="980463"/>
                    <a:pt x="0" y="93662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2032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47"/>
                </a:lnSpc>
              </a:pPr>
              <a:r>
                <a:rPr lang="en-US" sz="19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[5]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2000250" y="5857875"/>
            <a:ext cx="0" cy="809625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3" name="Group 33"/>
          <p:cNvGrpSpPr/>
          <p:nvPr/>
        </p:nvGrpSpPr>
        <p:grpSpPr>
          <a:xfrm>
            <a:off x="904875" y="6858000"/>
            <a:ext cx="2190750" cy="857250"/>
            <a:chOff x="0" y="0"/>
            <a:chExt cx="2921000" cy="1143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921000" cy="1143000"/>
            </a:xfrm>
            <a:custGeom>
              <a:avLst/>
              <a:gdLst/>
              <a:ahLst/>
              <a:cxnLst/>
              <a:rect l="l" t="t" r="r" b="b"/>
              <a:pathLst>
                <a:path w="2921000" h="1143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1087783"/>
                  </a:lnTo>
                  <a:cubicBezTo>
                    <a:pt x="2921000" y="1118278"/>
                    <a:pt x="2896278" y="1143000"/>
                    <a:pt x="2865783" y="1143000"/>
                  </a:cubicBezTo>
                  <a:lnTo>
                    <a:pt x="55217" y="1143000"/>
                  </a:lnTo>
                  <a:cubicBezTo>
                    <a:pt x="24722" y="1143000"/>
                    <a:pt x="0" y="1118278"/>
                    <a:pt x="0" y="10877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2921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6"/>
                </a:lnSpc>
              </a:pPr>
              <a:r>
                <a:rPr lang="en-US" sz="20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[27, 38]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6191250" y="5857875"/>
            <a:ext cx="0" cy="809625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7" name="Group 37"/>
          <p:cNvGrpSpPr/>
          <p:nvPr/>
        </p:nvGrpSpPr>
        <p:grpSpPr>
          <a:xfrm>
            <a:off x="5095875" y="6858000"/>
            <a:ext cx="2190750" cy="857250"/>
            <a:chOff x="0" y="0"/>
            <a:chExt cx="2921000" cy="1143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921000" cy="1143000"/>
            </a:xfrm>
            <a:custGeom>
              <a:avLst/>
              <a:gdLst/>
              <a:ahLst/>
              <a:cxnLst/>
              <a:rect l="l" t="t" r="r" b="b"/>
              <a:pathLst>
                <a:path w="2921000" h="1143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1087783"/>
                  </a:lnTo>
                  <a:cubicBezTo>
                    <a:pt x="2921000" y="1118278"/>
                    <a:pt x="2896278" y="1143000"/>
                    <a:pt x="2865783" y="1143000"/>
                  </a:cubicBezTo>
                  <a:lnTo>
                    <a:pt x="55217" y="1143000"/>
                  </a:lnTo>
                  <a:cubicBezTo>
                    <a:pt x="24722" y="1143000"/>
                    <a:pt x="0" y="1118278"/>
                    <a:pt x="0" y="10877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2921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6"/>
                </a:lnSpc>
              </a:pPr>
              <a:r>
                <a:rPr lang="en-US" sz="20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[3, 43]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>
            <a:off x="10382250" y="5857875"/>
            <a:ext cx="0" cy="809625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9286875" y="6858000"/>
            <a:ext cx="2190750" cy="857250"/>
            <a:chOff x="0" y="0"/>
            <a:chExt cx="2921000" cy="1143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921000" cy="1143000"/>
            </a:xfrm>
            <a:custGeom>
              <a:avLst/>
              <a:gdLst/>
              <a:ahLst/>
              <a:cxnLst/>
              <a:rect l="l" t="t" r="r" b="b"/>
              <a:pathLst>
                <a:path w="2921000" h="1143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1087783"/>
                  </a:lnTo>
                  <a:cubicBezTo>
                    <a:pt x="2921000" y="1118278"/>
                    <a:pt x="2896278" y="1143000"/>
                    <a:pt x="2865783" y="1143000"/>
                  </a:cubicBezTo>
                  <a:lnTo>
                    <a:pt x="55217" y="1143000"/>
                  </a:lnTo>
                  <a:cubicBezTo>
                    <a:pt x="24722" y="1143000"/>
                    <a:pt x="0" y="1118278"/>
                    <a:pt x="0" y="10877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2921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6"/>
                </a:lnSpc>
              </a:pPr>
              <a:r>
                <a:rPr lang="en-US" sz="20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82]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14573250" y="5857875"/>
            <a:ext cx="0" cy="809625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5" name="Group 45"/>
          <p:cNvGrpSpPr/>
          <p:nvPr/>
        </p:nvGrpSpPr>
        <p:grpSpPr>
          <a:xfrm>
            <a:off x="13477875" y="6858000"/>
            <a:ext cx="2190750" cy="857250"/>
            <a:chOff x="0" y="0"/>
            <a:chExt cx="2921000" cy="1143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921000" cy="1143000"/>
            </a:xfrm>
            <a:custGeom>
              <a:avLst/>
              <a:gdLst/>
              <a:ahLst/>
              <a:cxnLst/>
              <a:rect l="l" t="t" r="r" b="b"/>
              <a:pathLst>
                <a:path w="2921000" h="1143000">
                  <a:moveTo>
                    <a:pt x="55217" y="0"/>
                  </a:moveTo>
                  <a:lnTo>
                    <a:pt x="2865783" y="0"/>
                  </a:lnTo>
                  <a:cubicBezTo>
                    <a:pt x="2896278" y="0"/>
                    <a:pt x="2921000" y="24722"/>
                    <a:pt x="2921000" y="55217"/>
                  </a:cubicBezTo>
                  <a:lnTo>
                    <a:pt x="2921000" y="1087783"/>
                  </a:lnTo>
                  <a:cubicBezTo>
                    <a:pt x="2921000" y="1118278"/>
                    <a:pt x="2896278" y="1143000"/>
                    <a:pt x="2865783" y="1143000"/>
                  </a:cubicBezTo>
                  <a:lnTo>
                    <a:pt x="55217" y="1143000"/>
                  </a:lnTo>
                  <a:cubicBezTo>
                    <a:pt x="24722" y="1143000"/>
                    <a:pt x="0" y="1118278"/>
                    <a:pt x="0" y="1087783"/>
                  </a:cubicBezTo>
                  <a:lnTo>
                    <a:pt x="0" y="55217"/>
                  </a:lnTo>
                  <a:cubicBezTo>
                    <a:pt x="0" y="24722"/>
                    <a:pt x="24722" y="0"/>
                    <a:pt x="55217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9525"/>
              <a:ext cx="2921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6"/>
                </a:lnSpc>
              </a:pPr>
              <a:r>
                <a:rPr lang="en-US" sz="20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[5, 10]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7143750" y="4276725"/>
            <a:ext cx="4000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1">
                <a:solidFill>
                  <a:srgbClr val="4AA8D8"/>
                </a:solidFill>
                <a:latin typeface="Poppins Bold"/>
                <a:ea typeface="Poppins Bold"/>
                <a:cs typeface="Poppins Bold"/>
                <a:sym typeface="Poppins Bold"/>
              </a:rPr>
              <a:t>BASE CASE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91250" y="8039100"/>
            <a:ext cx="5905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18A999"/>
                </a:solidFill>
                <a:latin typeface="Poppins Bold"/>
                <a:ea typeface="Poppins Bold"/>
                <a:cs typeface="Poppins Bold"/>
                <a:sym typeface="Poppins Bold"/>
              </a:rPr>
              <a:t>FIRST MERGE — sorted pairs</a:t>
            </a: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C1B9ED3E-1666-8722-C071-B124BA7C154D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Phase 3 — Merge and Combine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Compare the front elements, select the smaller one, and copy any remainder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4500" y="2286000"/>
            <a:ext cx="4191000" cy="952500"/>
            <a:chOff x="0" y="0"/>
            <a:chExt cx="5588000" cy="127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88000" cy="1270000"/>
            </a:xfrm>
            <a:custGeom>
              <a:avLst/>
              <a:gdLst/>
              <a:ahLst/>
              <a:cxnLst/>
              <a:rect l="l" t="t" r="r" b="b"/>
              <a:pathLst>
                <a:path w="5588000" h="1270000">
                  <a:moveTo>
                    <a:pt x="28864" y="0"/>
                  </a:moveTo>
                  <a:lnTo>
                    <a:pt x="5559136" y="0"/>
                  </a:lnTo>
                  <a:cubicBezTo>
                    <a:pt x="5566792" y="0"/>
                    <a:pt x="5574133" y="3041"/>
                    <a:pt x="5579546" y="8454"/>
                  </a:cubicBezTo>
                  <a:cubicBezTo>
                    <a:pt x="5584959" y="13867"/>
                    <a:pt x="5588000" y="21209"/>
                    <a:pt x="5588000" y="28864"/>
                  </a:cubicBezTo>
                  <a:lnTo>
                    <a:pt x="5588000" y="1241136"/>
                  </a:lnTo>
                  <a:cubicBezTo>
                    <a:pt x="5588000" y="1248792"/>
                    <a:pt x="5584959" y="1256133"/>
                    <a:pt x="5579546" y="1261546"/>
                  </a:cubicBezTo>
                  <a:cubicBezTo>
                    <a:pt x="5574133" y="1266959"/>
                    <a:pt x="5566792" y="1270000"/>
                    <a:pt x="5559136" y="1270000"/>
                  </a:cubicBezTo>
                  <a:lnTo>
                    <a:pt x="28864" y="1270000"/>
                  </a:lnTo>
                  <a:cubicBezTo>
                    <a:pt x="21209" y="1270000"/>
                    <a:pt x="13867" y="1266959"/>
                    <a:pt x="8454" y="1261546"/>
                  </a:cubicBezTo>
                  <a:cubicBezTo>
                    <a:pt x="3041" y="1256133"/>
                    <a:pt x="0" y="1248792"/>
                    <a:pt x="0" y="1241136"/>
                  </a:cubicBezTo>
                  <a:lnTo>
                    <a:pt x="0" y="28864"/>
                  </a:lnTo>
                  <a:cubicBezTo>
                    <a:pt x="0" y="21209"/>
                    <a:pt x="3041" y="13867"/>
                    <a:pt x="8454" y="8454"/>
                  </a:cubicBezTo>
                  <a:cubicBezTo>
                    <a:pt x="13867" y="3041"/>
                    <a:pt x="21209" y="0"/>
                    <a:pt x="28864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5588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2"/>
                </a:lnSpc>
              </a:pPr>
              <a:r>
                <a:rPr lang="en-US" sz="22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LEFT  [27, 38]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82500" y="2286000"/>
            <a:ext cx="4191000" cy="952500"/>
            <a:chOff x="0" y="0"/>
            <a:chExt cx="5588000" cy="127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88000" cy="1270000"/>
            </a:xfrm>
            <a:custGeom>
              <a:avLst/>
              <a:gdLst/>
              <a:ahLst/>
              <a:cxnLst/>
              <a:rect l="l" t="t" r="r" b="b"/>
              <a:pathLst>
                <a:path w="5588000" h="1270000">
                  <a:moveTo>
                    <a:pt x="28864" y="0"/>
                  </a:moveTo>
                  <a:lnTo>
                    <a:pt x="5559136" y="0"/>
                  </a:lnTo>
                  <a:cubicBezTo>
                    <a:pt x="5566792" y="0"/>
                    <a:pt x="5574133" y="3041"/>
                    <a:pt x="5579546" y="8454"/>
                  </a:cubicBezTo>
                  <a:cubicBezTo>
                    <a:pt x="5584959" y="13867"/>
                    <a:pt x="5588000" y="21209"/>
                    <a:pt x="5588000" y="28864"/>
                  </a:cubicBezTo>
                  <a:lnTo>
                    <a:pt x="5588000" y="1241136"/>
                  </a:lnTo>
                  <a:cubicBezTo>
                    <a:pt x="5588000" y="1248792"/>
                    <a:pt x="5584959" y="1256133"/>
                    <a:pt x="5579546" y="1261546"/>
                  </a:cubicBezTo>
                  <a:cubicBezTo>
                    <a:pt x="5574133" y="1266959"/>
                    <a:pt x="5566792" y="1270000"/>
                    <a:pt x="5559136" y="1270000"/>
                  </a:cubicBezTo>
                  <a:lnTo>
                    <a:pt x="28864" y="1270000"/>
                  </a:lnTo>
                  <a:cubicBezTo>
                    <a:pt x="21209" y="1270000"/>
                    <a:pt x="13867" y="1266959"/>
                    <a:pt x="8454" y="1261546"/>
                  </a:cubicBezTo>
                  <a:cubicBezTo>
                    <a:pt x="3041" y="1256133"/>
                    <a:pt x="0" y="1248792"/>
                    <a:pt x="0" y="1241136"/>
                  </a:cubicBezTo>
                  <a:lnTo>
                    <a:pt x="0" y="28864"/>
                  </a:lnTo>
                  <a:cubicBezTo>
                    <a:pt x="0" y="21209"/>
                    <a:pt x="3041" y="13867"/>
                    <a:pt x="8454" y="8454"/>
                  </a:cubicBezTo>
                  <a:cubicBezTo>
                    <a:pt x="13867" y="3041"/>
                    <a:pt x="21209" y="0"/>
                    <a:pt x="28864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5588000" cy="1260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2"/>
                </a:lnSpc>
              </a:pPr>
              <a:r>
                <a:rPr lang="en-US" sz="22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RIGHT  [3, 43]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0" y="4000500"/>
            <a:ext cx="590550" cy="590550"/>
            <a:chOff x="0" y="0"/>
            <a:chExt cx="787400" cy="787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0" y="0"/>
                  </a:moveTo>
                  <a:lnTo>
                    <a:pt x="787400" y="0"/>
                  </a:lnTo>
                  <a:lnTo>
                    <a:pt x="7874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4AA8D8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874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53000" y="5048250"/>
            <a:ext cx="590550" cy="590550"/>
            <a:chOff x="0" y="0"/>
            <a:chExt cx="787400" cy="787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0" y="0"/>
                  </a:moveTo>
                  <a:lnTo>
                    <a:pt x="787400" y="0"/>
                  </a:lnTo>
                  <a:lnTo>
                    <a:pt x="7874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4AA8D8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874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953000" y="6096000"/>
            <a:ext cx="590550" cy="590550"/>
            <a:chOff x="0" y="0"/>
            <a:chExt cx="787400" cy="787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0" y="0"/>
                  </a:moveTo>
                  <a:lnTo>
                    <a:pt x="787400" y="0"/>
                  </a:lnTo>
                  <a:lnTo>
                    <a:pt x="7874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4AA8D8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874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7143750"/>
            <a:ext cx="590550" cy="590550"/>
            <a:chOff x="0" y="0"/>
            <a:chExt cx="787400" cy="787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7400" cy="787400"/>
            </a:xfrm>
            <a:custGeom>
              <a:avLst/>
              <a:gdLst/>
              <a:ahLst/>
              <a:cxnLst/>
              <a:rect l="l" t="t" r="r" b="b"/>
              <a:pathLst>
                <a:path w="787400" h="787400">
                  <a:moveTo>
                    <a:pt x="0" y="0"/>
                  </a:moveTo>
                  <a:lnTo>
                    <a:pt x="787400" y="0"/>
                  </a:lnTo>
                  <a:lnTo>
                    <a:pt x="7874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787400" cy="82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953000" y="4067175"/>
            <a:ext cx="590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05500" y="4048125"/>
            <a:ext cx="7429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Compare 27 and 3  →  select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53000" y="5114925"/>
            <a:ext cx="590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05500" y="5095875"/>
            <a:ext cx="7429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Compare 27 and 43  →  select 27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53000" y="6162675"/>
            <a:ext cx="590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905500" y="6143625"/>
            <a:ext cx="7429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Compare 38 and 43  →  select 38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53000" y="7210425"/>
            <a:ext cx="59055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905500" y="7191375"/>
            <a:ext cx="74295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Copy remaining 43</a:t>
            </a:r>
          </a:p>
        </p:txBody>
      </p:sp>
      <p:sp>
        <p:nvSpPr>
          <p:cNvPr id="33" name="AutoShape 33"/>
          <p:cNvSpPr/>
          <p:nvPr/>
        </p:nvSpPr>
        <p:spPr>
          <a:xfrm>
            <a:off x="5905500" y="2762250"/>
            <a:ext cx="2190750" cy="95250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AutoShape 34"/>
          <p:cNvSpPr/>
          <p:nvPr/>
        </p:nvSpPr>
        <p:spPr>
          <a:xfrm flipH="1">
            <a:off x="10191750" y="2762250"/>
            <a:ext cx="2190750" cy="95250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5" name="Group 35"/>
          <p:cNvGrpSpPr/>
          <p:nvPr/>
        </p:nvGrpSpPr>
        <p:grpSpPr>
          <a:xfrm>
            <a:off x="5238750" y="8572500"/>
            <a:ext cx="7810500" cy="1000125"/>
            <a:chOff x="0" y="0"/>
            <a:chExt cx="10414000" cy="13335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14000" cy="1333500"/>
            </a:xfrm>
            <a:custGeom>
              <a:avLst/>
              <a:gdLst/>
              <a:ahLst/>
              <a:cxnLst/>
              <a:rect l="l" t="t" r="r" b="b"/>
              <a:pathLst>
                <a:path w="10414000" h="1333500">
                  <a:moveTo>
                    <a:pt x="15488" y="0"/>
                  </a:moveTo>
                  <a:lnTo>
                    <a:pt x="10398513" y="0"/>
                  </a:lnTo>
                  <a:cubicBezTo>
                    <a:pt x="10407066" y="0"/>
                    <a:pt x="10414000" y="6934"/>
                    <a:pt x="10414000" y="15488"/>
                  </a:cubicBezTo>
                  <a:lnTo>
                    <a:pt x="10414000" y="1318012"/>
                  </a:lnTo>
                  <a:cubicBezTo>
                    <a:pt x="10414000" y="1326566"/>
                    <a:pt x="10407066" y="1333500"/>
                    <a:pt x="10398513" y="1333500"/>
                  </a:cubicBezTo>
                  <a:lnTo>
                    <a:pt x="15488" y="1333500"/>
                  </a:lnTo>
                  <a:cubicBezTo>
                    <a:pt x="6934" y="1333500"/>
                    <a:pt x="0" y="1326566"/>
                    <a:pt x="0" y="1318012"/>
                  </a:cubicBezTo>
                  <a:lnTo>
                    <a:pt x="0" y="15488"/>
                  </a:lnTo>
                  <a:cubicBezTo>
                    <a:pt x="0" y="6934"/>
                    <a:pt x="6934" y="0"/>
                    <a:pt x="15488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10414000" cy="1323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40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MERGED ARRAY   [3, 27, 38, 43]</a:t>
              </a:r>
            </a:p>
          </p:txBody>
        </p:sp>
      </p:grpSp>
      <p:sp>
        <p:nvSpPr>
          <p:cNvPr id="39" name="TextBox 17">
            <a:extLst>
              <a:ext uri="{FF2B5EF4-FFF2-40B4-BE49-F238E27FC236}">
                <a16:creationId xmlns:a16="http://schemas.microsoft.com/office/drawing/2014/main" id="{2C9DFC34-722E-C341-3B81-95264896F3E0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Complete Working of Merge Sort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Blue divides downward • teal merges upward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10250" y="1809750"/>
            <a:ext cx="6667500" cy="666750"/>
            <a:chOff x="0" y="0"/>
            <a:chExt cx="8890000" cy="88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890000" cy="889000"/>
            </a:xfrm>
            <a:custGeom>
              <a:avLst/>
              <a:gdLst/>
              <a:ahLst/>
              <a:cxnLst/>
              <a:rect l="l" t="t" r="r" b="b"/>
              <a:pathLst>
                <a:path w="8890000" h="889000">
                  <a:moveTo>
                    <a:pt x="18143" y="0"/>
                  </a:moveTo>
                  <a:lnTo>
                    <a:pt x="8871857" y="0"/>
                  </a:lnTo>
                  <a:cubicBezTo>
                    <a:pt x="8881877" y="0"/>
                    <a:pt x="8890000" y="8123"/>
                    <a:pt x="8890000" y="18143"/>
                  </a:cubicBezTo>
                  <a:lnTo>
                    <a:pt x="8890000" y="870857"/>
                  </a:lnTo>
                  <a:cubicBezTo>
                    <a:pt x="8890000" y="880877"/>
                    <a:pt x="8881877" y="889000"/>
                    <a:pt x="8871857" y="889000"/>
                  </a:cubicBezTo>
                  <a:lnTo>
                    <a:pt x="18143" y="889000"/>
                  </a:lnTo>
                  <a:cubicBezTo>
                    <a:pt x="8123" y="889000"/>
                    <a:pt x="0" y="880877"/>
                    <a:pt x="0" y="870857"/>
                  </a:cubicBezTo>
                  <a:lnTo>
                    <a:pt x="0" y="18143"/>
                  </a:lnTo>
                  <a:cubicBezTo>
                    <a:pt x="0" y="8123"/>
                    <a:pt x="8123" y="0"/>
                    <a:pt x="18143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8890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27, 43, 3, 9, 82, 10, 5]</a:t>
              </a:r>
            </a:p>
          </p:txBody>
        </p:sp>
      </p:grpSp>
      <p:sp>
        <p:nvSpPr>
          <p:cNvPr id="10" name="AutoShape 10"/>
          <p:cNvSpPr/>
          <p:nvPr/>
        </p:nvSpPr>
        <p:spPr>
          <a:xfrm>
            <a:off x="9144000" y="2495550"/>
            <a:ext cx="0" cy="285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1" name="Group 11"/>
          <p:cNvGrpSpPr/>
          <p:nvPr/>
        </p:nvGrpSpPr>
        <p:grpSpPr>
          <a:xfrm>
            <a:off x="5738812" y="2857500"/>
            <a:ext cx="3143250" cy="666750"/>
            <a:chOff x="0" y="0"/>
            <a:chExt cx="4191000" cy="889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27, 43, 3]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05938" y="2857500"/>
            <a:ext cx="3143250" cy="666750"/>
            <a:chOff x="0" y="0"/>
            <a:chExt cx="4191000" cy="889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82, 10, 5]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>
            <a:off x="9144000" y="3543300"/>
            <a:ext cx="0" cy="285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8" name="Group 18"/>
          <p:cNvGrpSpPr/>
          <p:nvPr/>
        </p:nvGrpSpPr>
        <p:grpSpPr>
          <a:xfrm>
            <a:off x="2071688" y="3905250"/>
            <a:ext cx="3143250" cy="666750"/>
            <a:chOff x="0" y="0"/>
            <a:chExt cx="4191000" cy="889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[38, 27]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38812" y="3905250"/>
            <a:ext cx="3143250" cy="666750"/>
            <a:chOff x="0" y="0"/>
            <a:chExt cx="4191000" cy="889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[43, 3]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05938" y="3905250"/>
            <a:ext cx="3143250" cy="666750"/>
            <a:chOff x="0" y="0"/>
            <a:chExt cx="4191000" cy="889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82]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073062" y="3905250"/>
            <a:ext cx="3143250" cy="666750"/>
            <a:chOff x="0" y="0"/>
            <a:chExt cx="4191000" cy="889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[10, 5]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9144000" y="4591050"/>
            <a:ext cx="0" cy="28575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1" name="Group 31"/>
          <p:cNvGrpSpPr/>
          <p:nvPr/>
        </p:nvGrpSpPr>
        <p:grpSpPr>
          <a:xfrm>
            <a:off x="1166812" y="4953000"/>
            <a:ext cx="1785938" cy="666750"/>
            <a:chOff x="0" y="0"/>
            <a:chExt cx="2381250" cy="889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[38]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190875" y="4953000"/>
            <a:ext cx="1785938" cy="666750"/>
            <a:chOff x="0" y="0"/>
            <a:chExt cx="2381250" cy="889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[27]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14938" y="4953000"/>
            <a:ext cx="1785938" cy="666750"/>
            <a:chOff x="0" y="0"/>
            <a:chExt cx="2381250" cy="889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[43]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239000" y="4953000"/>
            <a:ext cx="1785938" cy="666750"/>
            <a:chOff x="0" y="0"/>
            <a:chExt cx="2381250" cy="889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[3]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263062" y="4953000"/>
            <a:ext cx="1785938" cy="666750"/>
            <a:chOff x="0" y="0"/>
            <a:chExt cx="2381250" cy="889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[9]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287125" y="4953000"/>
            <a:ext cx="1785938" cy="666750"/>
            <a:chOff x="0" y="0"/>
            <a:chExt cx="2381250" cy="889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[82]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311188" y="4953000"/>
            <a:ext cx="1785938" cy="666750"/>
            <a:chOff x="0" y="0"/>
            <a:chExt cx="2381250" cy="8890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[10]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335250" y="4953000"/>
            <a:ext cx="1785938" cy="666750"/>
            <a:chOff x="0" y="0"/>
            <a:chExt cx="2381250" cy="889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381250" cy="889000"/>
            </a:xfrm>
            <a:custGeom>
              <a:avLst/>
              <a:gdLst/>
              <a:ahLst/>
              <a:cxnLst/>
              <a:rect l="l" t="t" r="r" b="b"/>
              <a:pathLst>
                <a:path w="2381250" h="889000">
                  <a:moveTo>
                    <a:pt x="67733" y="0"/>
                  </a:moveTo>
                  <a:lnTo>
                    <a:pt x="2313517" y="0"/>
                  </a:lnTo>
                  <a:cubicBezTo>
                    <a:pt x="2331481" y="0"/>
                    <a:pt x="2348709" y="7136"/>
                    <a:pt x="2361411" y="19839"/>
                  </a:cubicBezTo>
                  <a:cubicBezTo>
                    <a:pt x="2374114" y="32541"/>
                    <a:pt x="2381250" y="49769"/>
                    <a:pt x="2381250" y="67733"/>
                  </a:cubicBezTo>
                  <a:lnTo>
                    <a:pt x="2381250" y="821267"/>
                  </a:lnTo>
                  <a:cubicBezTo>
                    <a:pt x="2381250" y="839231"/>
                    <a:pt x="2374114" y="856459"/>
                    <a:pt x="2361411" y="869161"/>
                  </a:cubicBezTo>
                  <a:cubicBezTo>
                    <a:pt x="2348709" y="881864"/>
                    <a:pt x="2331481" y="889000"/>
                    <a:pt x="2313517" y="889000"/>
                  </a:cubicBezTo>
                  <a:lnTo>
                    <a:pt x="67733" y="889000"/>
                  </a:lnTo>
                  <a:cubicBezTo>
                    <a:pt x="49769" y="889000"/>
                    <a:pt x="32541" y="881864"/>
                    <a:pt x="19839" y="869161"/>
                  </a:cubicBezTo>
                  <a:cubicBezTo>
                    <a:pt x="7136" y="856459"/>
                    <a:pt x="0" y="839231"/>
                    <a:pt x="0" y="821267"/>
                  </a:cubicBezTo>
                  <a:lnTo>
                    <a:pt x="0" y="67733"/>
                  </a:lnTo>
                  <a:cubicBezTo>
                    <a:pt x="0" y="49769"/>
                    <a:pt x="7136" y="32541"/>
                    <a:pt x="19839" y="19839"/>
                  </a:cubicBezTo>
                  <a:cubicBezTo>
                    <a:pt x="32541" y="7136"/>
                    <a:pt x="49769" y="0"/>
                    <a:pt x="67733" y="0"/>
                  </a:cubicBez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0"/>
              <a:ext cx="2381250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96"/>
                </a:lnSpc>
              </a:pPr>
              <a:r>
                <a:rPr lang="en-US" sz="14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[5]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>
            <a:off x="9144000" y="5638800"/>
            <a:ext cx="0" cy="47625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6" name="Group 56"/>
          <p:cNvGrpSpPr/>
          <p:nvPr/>
        </p:nvGrpSpPr>
        <p:grpSpPr>
          <a:xfrm>
            <a:off x="2071688" y="6191250"/>
            <a:ext cx="3143250" cy="666750"/>
            <a:chOff x="0" y="0"/>
            <a:chExt cx="4191000" cy="8890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[27, 38]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738812" y="6191250"/>
            <a:ext cx="3143250" cy="666750"/>
            <a:chOff x="0" y="0"/>
            <a:chExt cx="4191000" cy="8890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[3, 43]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405938" y="6191250"/>
            <a:ext cx="3143250" cy="666750"/>
            <a:chOff x="0" y="0"/>
            <a:chExt cx="4191000" cy="889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[9, 82]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3073062" y="6191250"/>
            <a:ext cx="3143250" cy="666750"/>
            <a:chOff x="0" y="0"/>
            <a:chExt cx="4191000" cy="889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[5, 10]</a:t>
              </a:r>
            </a:p>
          </p:txBody>
        </p:sp>
      </p:grpSp>
      <p:sp>
        <p:nvSpPr>
          <p:cNvPr id="68" name="AutoShape 68"/>
          <p:cNvSpPr/>
          <p:nvPr/>
        </p:nvSpPr>
        <p:spPr>
          <a:xfrm>
            <a:off x="9144000" y="6877050"/>
            <a:ext cx="0" cy="38100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9" name="Group 69"/>
          <p:cNvGrpSpPr/>
          <p:nvPr/>
        </p:nvGrpSpPr>
        <p:grpSpPr>
          <a:xfrm>
            <a:off x="5738812" y="7334250"/>
            <a:ext cx="3143250" cy="666750"/>
            <a:chOff x="0" y="0"/>
            <a:chExt cx="4191000" cy="8890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[3, 27, 38, 43]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405938" y="7334250"/>
            <a:ext cx="3143250" cy="666750"/>
            <a:chOff x="0" y="0"/>
            <a:chExt cx="4191000" cy="88900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191000" cy="889000"/>
            </a:xfrm>
            <a:custGeom>
              <a:avLst/>
              <a:gdLst/>
              <a:ahLst/>
              <a:cxnLst/>
              <a:rect l="l" t="t" r="r" b="b"/>
              <a:pathLst>
                <a:path w="4191000" h="889000">
                  <a:moveTo>
                    <a:pt x="38485" y="0"/>
                  </a:moveTo>
                  <a:lnTo>
                    <a:pt x="4152515" y="0"/>
                  </a:lnTo>
                  <a:cubicBezTo>
                    <a:pt x="4162722" y="0"/>
                    <a:pt x="4172511" y="4055"/>
                    <a:pt x="4179728" y="11272"/>
                  </a:cubicBezTo>
                  <a:cubicBezTo>
                    <a:pt x="4186945" y="18489"/>
                    <a:pt x="4191000" y="28278"/>
                    <a:pt x="4191000" y="38485"/>
                  </a:cubicBezTo>
                  <a:lnTo>
                    <a:pt x="4191000" y="850515"/>
                  </a:lnTo>
                  <a:cubicBezTo>
                    <a:pt x="4191000" y="860722"/>
                    <a:pt x="4186945" y="870511"/>
                    <a:pt x="4179728" y="877728"/>
                  </a:cubicBezTo>
                  <a:cubicBezTo>
                    <a:pt x="4172511" y="884945"/>
                    <a:pt x="4162722" y="889000"/>
                    <a:pt x="4152515" y="889000"/>
                  </a:cubicBezTo>
                  <a:lnTo>
                    <a:pt x="38485" y="889000"/>
                  </a:lnTo>
                  <a:cubicBezTo>
                    <a:pt x="28278" y="889000"/>
                    <a:pt x="18489" y="884945"/>
                    <a:pt x="11272" y="877728"/>
                  </a:cubicBezTo>
                  <a:cubicBezTo>
                    <a:pt x="4055" y="870511"/>
                    <a:pt x="0" y="860722"/>
                    <a:pt x="0" y="850515"/>
                  </a:cubicBezTo>
                  <a:lnTo>
                    <a:pt x="0" y="38485"/>
                  </a:lnTo>
                  <a:cubicBezTo>
                    <a:pt x="0" y="28278"/>
                    <a:pt x="4055" y="18489"/>
                    <a:pt x="11272" y="11272"/>
                  </a:cubicBezTo>
                  <a:cubicBezTo>
                    <a:pt x="18489" y="4055"/>
                    <a:pt x="28278" y="0"/>
                    <a:pt x="38485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9525"/>
              <a:ext cx="4191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[5, 9, 10, 82]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>
            <a:off x="9144000" y="8020050"/>
            <a:ext cx="0" cy="476250"/>
          </a:xfrm>
          <a:prstGeom prst="line">
            <a:avLst/>
          </a:prstGeom>
          <a:ln w="38100" cap="rnd">
            <a:solidFill>
              <a:srgbClr val="18A999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6" name="Group 76"/>
          <p:cNvGrpSpPr/>
          <p:nvPr/>
        </p:nvGrpSpPr>
        <p:grpSpPr>
          <a:xfrm>
            <a:off x="4857750" y="8572500"/>
            <a:ext cx="8572500" cy="666750"/>
            <a:chOff x="0" y="0"/>
            <a:chExt cx="11430000" cy="8890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430000" cy="889000"/>
            </a:xfrm>
            <a:custGeom>
              <a:avLst/>
              <a:gdLst/>
              <a:ahLst/>
              <a:cxnLst/>
              <a:rect l="l" t="t" r="r" b="b"/>
              <a:pathLst>
                <a:path w="11430000" h="889000">
                  <a:moveTo>
                    <a:pt x="14111" y="0"/>
                  </a:moveTo>
                  <a:lnTo>
                    <a:pt x="11415889" y="0"/>
                  </a:lnTo>
                  <a:cubicBezTo>
                    <a:pt x="11419632" y="0"/>
                    <a:pt x="11423221" y="1487"/>
                    <a:pt x="11425867" y="4133"/>
                  </a:cubicBezTo>
                  <a:cubicBezTo>
                    <a:pt x="11428513" y="6779"/>
                    <a:pt x="11430000" y="10369"/>
                    <a:pt x="11430000" y="14111"/>
                  </a:cubicBezTo>
                  <a:lnTo>
                    <a:pt x="11430000" y="874889"/>
                  </a:lnTo>
                  <a:cubicBezTo>
                    <a:pt x="11430000" y="878631"/>
                    <a:pt x="11428513" y="882221"/>
                    <a:pt x="11425867" y="884867"/>
                  </a:cubicBezTo>
                  <a:cubicBezTo>
                    <a:pt x="11423221" y="887513"/>
                    <a:pt x="11419632" y="889000"/>
                    <a:pt x="11415889" y="889000"/>
                  </a:cubicBezTo>
                  <a:lnTo>
                    <a:pt x="14111" y="889000"/>
                  </a:lnTo>
                  <a:cubicBezTo>
                    <a:pt x="10369" y="889000"/>
                    <a:pt x="6779" y="887513"/>
                    <a:pt x="4133" y="884867"/>
                  </a:cubicBezTo>
                  <a:cubicBezTo>
                    <a:pt x="1487" y="882221"/>
                    <a:pt x="0" y="878631"/>
                    <a:pt x="0" y="874889"/>
                  </a:cubicBezTo>
                  <a:lnTo>
                    <a:pt x="0" y="14111"/>
                  </a:lnTo>
                  <a:cubicBezTo>
                    <a:pt x="0" y="10369"/>
                    <a:pt x="1487" y="6779"/>
                    <a:pt x="4133" y="4133"/>
                  </a:cubicBezTo>
                  <a:cubicBezTo>
                    <a:pt x="6779" y="1487"/>
                    <a:pt x="10369" y="0"/>
                    <a:pt x="14111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0" y="9525"/>
              <a:ext cx="114300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1"/>
                </a:lnSpc>
              </a:pPr>
              <a:r>
                <a:rPr lang="en-US" sz="1725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FINAL  [3, 5, 9, 10, 27, 38, 43, 82]</a:t>
              </a:r>
            </a:p>
          </p:txBody>
        </p:sp>
      </p:grpSp>
      <p:sp>
        <p:nvSpPr>
          <p:cNvPr id="80" name="TextBox 17">
            <a:extLst>
              <a:ext uri="{FF2B5EF4-FFF2-40B4-BE49-F238E27FC236}">
                <a16:creationId xmlns:a16="http://schemas.microsoft.com/office/drawing/2014/main" id="{7FC8D25A-D99C-1DC4-4EC2-6AA8482194A6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 and Pseudocode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recursive structure is short; the merge operation does the linear 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095500"/>
            <a:ext cx="7810500" cy="5715000"/>
            <a:chOff x="0" y="0"/>
            <a:chExt cx="10414000" cy="762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14000" cy="7620000"/>
            </a:xfrm>
            <a:custGeom>
              <a:avLst/>
              <a:gdLst/>
              <a:ahLst/>
              <a:cxnLst/>
              <a:rect l="l" t="t" r="r" b="b"/>
              <a:pathLst>
                <a:path w="10414000" h="7620000">
                  <a:moveTo>
                    <a:pt x="0" y="0"/>
                  </a:moveTo>
                  <a:lnTo>
                    <a:pt x="10414000" y="0"/>
                  </a:lnTo>
                  <a:lnTo>
                    <a:pt x="10414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EEF5FB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414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30468" y="3294840"/>
            <a:ext cx="7578364" cy="2473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MERGE_SORT(A, left, right)</a:t>
            </a:r>
          </a:p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1. If left &lt; right:</a:t>
            </a:r>
          </a:p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2.     mid = floor((left + right) / 2)</a:t>
            </a:r>
          </a:p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3.     MERGE_SORT(A, left, mid)</a:t>
            </a:r>
          </a:p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4.     MERGE_SORT(A, mid + 1, right)</a:t>
            </a:r>
          </a:p>
          <a:p>
            <a:pPr algn="l">
              <a:lnSpc>
                <a:spcPts val="3294"/>
              </a:lnSpc>
            </a:pPr>
            <a:r>
              <a:rPr lang="en-US" sz="2125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5.     MERGE(A, left, mid, right)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52701" y="2009775"/>
            <a:ext cx="8854299" cy="5713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1: Start with the unsorted array and initialise the left and right indices.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2: Check whether the subarray contains more than one element.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3: Calculate the middle index of the subarray.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4: Divide the array into two halves using the middle index.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5: Recursively apply Merge Sort to the left half.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6: Recursively apply Merge Sort to the right half.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7: Merge both sorted halves by comparing their elements.</a:t>
            </a:r>
          </a:p>
          <a:p>
            <a:pPr marL="535311" lvl="1" indent="-267656" algn="l">
              <a:lnSpc>
                <a:spcPts val="3843"/>
              </a:lnSpc>
              <a:buFont typeface="Arial"/>
              <a:buChar char="•"/>
            </a:pPr>
            <a:r>
              <a:rPr lang="en-US" sz="2479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Step 8: Copy the merged elements back into the original array to obtain the sorted array.</a:t>
            </a:r>
          </a:p>
          <a:p>
            <a:pPr algn="l">
              <a:lnSpc>
                <a:spcPts val="3843"/>
              </a:lnSpc>
            </a:pPr>
            <a:endParaRPr lang="en-US" sz="2479">
              <a:solidFill>
                <a:srgbClr val="243B53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762000" y="8524875"/>
            <a:ext cx="2000250" cy="685800"/>
            <a:chOff x="0" y="0"/>
            <a:chExt cx="2667000" cy="914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START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2781300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6" name="Group 16"/>
          <p:cNvGrpSpPr/>
          <p:nvPr/>
        </p:nvGrpSpPr>
        <p:grpSpPr>
          <a:xfrm>
            <a:off x="3286125" y="8524875"/>
            <a:ext cx="2000250" cy="685800"/>
            <a:chOff x="0" y="0"/>
            <a:chExt cx="2667000" cy="914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left &lt; right?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5305425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0" name="Group 20"/>
          <p:cNvGrpSpPr/>
          <p:nvPr/>
        </p:nvGrpSpPr>
        <p:grpSpPr>
          <a:xfrm>
            <a:off x="5810250" y="8524875"/>
            <a:ext cx="2000250" cy="685800"/>
            <a:chOff x="0" y="0"/>
            <a:chExt cx="26670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FIND MID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7829550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4" name="Group 24"/>
          <p:cNvGrpSpPr/>
          <p:nvPr/>
        </p:nvGrpSpPr>
        <p:grpSpPr>
          <a:xfrm>
            <a:off x="8334375" y="8524875"/>
            <a:ext cx="2000250" cy="685800"/>
            <a:chOff x="0" y="0"/>
            <a:chExt cx="2667000" cy="914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 LEFT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0353675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8" name="Group 28"/>
          <p:cNvGrpSpPr/>
          <p:nvPr/>
        </p:nvGrpSpPr>
        <p:grpSpPr>
          <a:xfrm>
            <a:off x="10858500" y="8524875"/>
            <a:ext cx="2000250" cy="685800"/>
            <a:chOff x="0" y="0"/>
            <a:chExt cx="2667000" cy="914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 RIGHT</a:t>
              </a: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2877800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2" name="Group 32"/>
          <p:cNvGrpSpPr/>
          <p:nvPr/>
        </p:nvGrpSpPr>
        <p:grpSpPr>
          <a:xfrm>
            <a:off x="13382625" y="8524875"/>
            <a:ext cx="2000250" cy="685800"/>
            <a:chOff x="0" y="0"/>
            <a:chExt cx="2667000" cy="914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MERGE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15401925" y="8867775"/>
            <a:ext cx="457200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6" name="Group 36"/>
          <p:cNvGrpSpPr/>
          <p:nvPr/>
        </p:nvGrpSpPr>
        <p:grpSpPr>
          <a:xfrm>
            <a:off x="15906750" y="8524875"/>
            <a:ext cx="2000250" cy="685800"/>
            <a:chOff x="0" y="0"/>
            <a:chExt cx="2667000" cy="9144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67000" cy="914400"/>
            </a:xfrm>
            <a:custGeom>
              <a:avLst/>
              <a:gdLst/>
              <a:ahLst/>
              <a:cxnLst/>
              <a:rect l="l" t="t" r="r" b="b"/>
              <a:pathLst>
                <a:path w="2667000" h="914400">
                  <a:moveTo>
                    <a:pt x="60476" y="0"/>
                  </a:moveTo>
                  <a:lnTo>
                    <a:pt x="2606524" y="0"/>
                  </a:lnTo>
                  <a:cubicBezTo>
                    <a:pt x="2622563" y="0"/>
                    <a:pt x="2637945" y="6372"/>
                    <a:pt x="2649287" y="17713"/>
                  </a:cubicBezTo>
                  <a:cubicBezTo>
                    <a:pt x="2660628" y="29055"/>
                    <a:pt x="2667000" y="44437"/>
                    <a:pt x="2667000" y="60476"/>
                  </a:cubicBezTo>
                  <a:lnTo>
                    <a:pt x="2667000" y="853924"/>
                  </a:lnTo>
                  <a:cubicBezTo>
                    <a:pt x="2667000" y="869963"/>
                    <a:pt x="2660628" y="885345"/>
                    <a:pt x="2649287" y="896687"/>
                  </a:cubicBezTo>
                  <a:cubicBezTo>
                    <a:pt x="2637945" y="908028"/>
                    <a:pt x="2622563" y="914400"/>
                    <a:pt x="2606524" y="914400"/>
                  </a:cubicBezTo>
                  <a:lnTo>
                    <a:pt x="60476" y="914400"/>
                  </a:lnTo>
                  <a:cubicBezTo>
                    <a:pt x="44437" y="914400"/>
                    <a:pt x="29055" y="908028"/>
                    <a:pt x="17713" y="896687"/>
                  </a:cubicBezTo>
                  <a:cubicBezTo>
                    <a:pt x="6372" y="885345"/>
                    <a:pt x="0" y="869963"/>
                    <a:pt x="0" y="853924"/>
                  </a:cubicBezTo>
                  <a:lnTo>
                    <a:pt x="0" y="60476"/>
                  </a:lnTo>
                  <a:cubicBezTo>
                    <a:pt x="0" y="44437"/>
                    <a:pt x="6372" y="29055"/>
                    <a:pt x="17713" y="17713"/>
                  </a:cubicBezTo>
                  <a:cubicBezTo>
                    <a:pt x="29055" y="6372"/>
                    <a:pt x="44437" y="0"/>
                    <a:pt x="60476" y="0"/>
                  </a:cubicBez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2667000" cy="914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17"/>
                </a:lnSpc>
              </a:pPr>
              <a:r>
                <a:rPr lang="en-US" sz="13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RETURN</a:t>
              </a:r>
            </a:p>
          </p:txBody>
        </p:sp>
      </p:grpSp>
      <p:sp>
        <p:nvSpPr>
          <p:cNvPr id="40" name="TextBox 17">
            <a:extLst>
              <a:ext uri="{FF2B5EF4-FFF2-40B4-BE49-F238E27FC236}">
                <a16:creationId xmlns:a16="http://schemas.microsoft.com/office/drawing/2014/main" id="{F6554831-8CF7-3861-FA31-9A9BA0704E2E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of Merge Sort in 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compilable program • two readable code panels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66750" y="1809750"/>
            <a:ext cx="8572500" cy="7524750"/>
            <a:chOff x="0" y="0"/>
            <a:chExt cx="11430000" cy="1003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30000" cy="10033000"/>
            </a:xfrm>
            <a:custGeom>
              <a:avLst/>
              <a:gdLst/>
              <a:ahLst/>
              <a:cxnLst/>
              <a:rect l="l" t="t" r="r" b="b"/>
              <a:pathLst>
                <a:path w="11430000" h="10033000">
                  <a:moveTo>
                    <a:pt x="0" y="0"/>
                  </a:moveTo>
                  <a:lnTo>
                    <a:pt x="11430000" y="0"/>
                  </a:lnTo>
                  <a:lnTo>
                    <a:pt x="114300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EEF5FB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430000" cy="1007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29750" y="1809750"/>
            <a:ext cx="8191500" cy="7524750"/>
            <a:chOff x="0" y="0"/>
            <a:chExt cx="10922000" cy="1003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22000" cy="10033000"/>
            </a:xfrm>
            <a:custGeom>
              <a:avLst/>
              <a:gdLst/>
              <a:ahLst/>
              <a:cxnLst/>
              <a:rect l="l" t="t" r="r" b="b"/>
              <a:pathLst>
                <a:path w="10922000" h="10033000">
                  <a:moveTo>
                    <a:pt x="0" y="0"/>
                  </a:moveTo>
                  <a:lnTo>
                    <a:pt x="10922000" y="0"/>
                  </a:lnTo>
                  <a:lnTo>
                    <a:pt x="109220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EEF5F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22000" cy="1007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7750" y="2000250"/>
            <a:ext cx="28575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18A999"/>
                </a:solidFill>
                <a:latin typeface="Poppins Bold"/>
                <a:ea typeface="Poppins Bold"/>
                <a:cs typeface="Poppins Bold"/>
                <a:sym typeface="Poppins Bold"/>
              </a:rPr>
              <a:t>MERGE FUNCTION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10750" y="2000250"/>
            <a:ext cx="333375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18A999"/>
                </a:solidFill>
                <a:latin typeface="Poppins Bold"/>
                <a:ea typeface="Poppins Bold"/>
                <a:cs typeface="Poppins Bold"/>
                <a:sym typeface="Poppins Bold"/>
              </a:rPr>
              <a:t>MERGESORT + MAIN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2543175"/>
            <a:ext cx="10900489" cy="63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#include &lt;stdio.h&gt;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void merge(int a[], int l, int m, int r) {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int i = l, j = m + 1, k = 0;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int temp[r - l + 1];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while (i &lt;= m &amp;&amp; j &lt;= r) {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if (a[i] &lt;= a[j])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temp[k++] = a[i++];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else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 temp[k++] = a[j++];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}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while (i &lt;= m)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temp[k++] = a[i++];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while (j &lt;= r)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temp[k++] = a[j++];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for (i = l, k = 0; i &lt;= r; i++, k++)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a[i] = temp[k];</a:t>
            </a:r>
          </a:p>
          <a:p>
            <a:pPr algn="l">
              <a:lnSpc>
                <a:spcPts val="2967"/>
              </a:lnSpc>
            </a:pPr>
            <a:r>
              <a:rPr lang="en-US" sz="2198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0750" y="2533650"/>
            <a:ext cx="10093672" cy="6519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void mergeSort(int a[], int l, int r) {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if (l &lt; r) {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int m = l + (r - l) / 2;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mergeSort(a, l, m);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mergeSort(a, m + 1, r);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merge(a, l, m, r);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}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int main(void) {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int a[] = {38, 27, 43, 3, 9, 82, 10, 5};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int n = sizeof(a) / sizeof(a[0]);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mergeSort(a, 0, n - 1);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printf("Sorted array: ");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for (int i = 0; i &lt; n; i++)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printf("%d ", a[i]);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printf("\n");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  return 0;</a:t>
            </a:r>
          </a:p>
          <a:p>
            <a:pPr algn="l">
              <a:lnSpc>
                <a:spcPts val="2888"/>
              </a:lnSpc>
            </a:pPr>
            <a:r>
              <a:rPr lang="en-US" sz="2139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6D2FF3-DB43-4E7E-1E00-4C0833975C8A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and Analysis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Correct output, predictable complexity, practical strengths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4875" y="1952625"/>
            <a:ext cx="7810500" cy="3143250"/>
            <a:chOff x="0" y="0"/>
            <a:chExt cx="10414000" cy="4191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14000" cy="4191000"/>
            </a:xfrm>
            <a:custGeom>
              <a:avLst/>
              <a:gdLst/>
              <a:ahLst/>
              <a:cxnLst/>
              <a:rect l="l" t="t" r="r" b="b"/>
              <a:pathLst>
                <a:path w="10414000" h="4191000">
                  <a:moveTo>
                    <a:pt x="0" y="0"/>
                  </a:moveTo>
                  <a:lnTo>
                    <a:pt x="10414000" y="0"/>
                  </a:lnTo>
                  <a:lnTo>
                    <a:pt x="104140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414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82125" y="1952625"/>
            <a:ext cx="7810500" cy="4762500"/>
            <a:chOff x="0" y="0"/>
            <a:chExt cx="10414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14000" cy="6350000"/>
            </a:xfrm>
            <a:custGeom>
              <a:avLst/>
              <a:gdLst/>
              <a:ahLst/>
              <a:cxnLst/>
              <a:rect l="l" t="t" r="r" b="b"/>
              <a:pathLst>
                <a:path w="10414000" h="6350000">
                  <a:moveTo>
                    <a:pt x="0" y="0"/>
                  </a:moveTo>
                  <a:lnTo>
                    <a:pt x="10414000" y="0"/>
                  </a:lnTo>
                  <a:lnTo>
                    <a:pt x="10414000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414000" cy="638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4875" y="5381625"/>
            <a:ext cx="7810500" cy="3714750"/>
            <a:chOff x="0" y="0"/>
            <a:chExt cx="10414000" cy="495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14000" cy="4953000"/>
            </a:xfrm>
            <a:custGeom>
              <a:avLst/>
              <a:gdLst/>
              <a:ahLst/>
              <a:cxnLst/>
              <a:rect l="l" t="t" r="r" b="b"/>
              <a:pathLst>
                <a:path w="10414000" h="4953000">
                  <a:moveTo>
                    <a:pt x="0" y="0"/>
                  </a:moveTo>
                  <a:lnTo>
                    <a:pt x="10414000" y="0"/>
                  </a:lnTo>
                  <a:lnTo>
                    <a:pt x="10414000" y="4953000"/>
                  </a:lnTo>
                  <a:lnTo>
                    <a:pt x="0" y="4953000"/>
                  </a:ln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414000" cy="499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82125" y="6905625"/>
            <a:ext cx="7810500" cy="2190750"/>
            <a:chOff x="0" y="0"/>
            <a:chExt cx="10414000" cy="2921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14000" cy="2921000"/>
            </a:xfrm>
            <a:custGeom>
              <a:avLst/>
              <a:gdLst/>
              <a:ahLst/>
              <a:cxnLst/>
              <a:rect l="l" t="t" r="r" b="b"/>
              <a:pathLst>
                <a:path w="10414000" h="2921000">
                  <a:moveTo>
                    <a:pt x="0" y="0"/>
                  </a:moveTo>
                  <a:lnTo>
                    <a:pt x="10414000" y="0"/>
                  </a:lnTo>
                  <a:lnTo>
                    <a:pt x="10414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4140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3000" y="2181225"/>
            <a:ext cx="476250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A. PROGRAM OUTPUT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1125" y="3105150"/>
            <a:ext cx="69532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18A999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Sorted array: 3 5 9 10 27 38 43 82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1125" y="3848100"/>
            <a:ext cx="666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program sorts the input array in ascending order.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0250" y="2181225"/>
            <a:ext cx="666750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B. COMPLEXITY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01250" y="3048000"/>
            <a:ext cx="61912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1950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BEST CASE        O(n log n)</a:t>
            </a:r>
          </a:p>
          <a:p>
            <a:pPr algn="l">
              <a:lnSpc>
                <a:spcPts val="3315"/>
              </a:lnSpc>
            </a:pPr>
            <a:r>
              <a:rPr lang="en-US" sz="1950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AVERAGE CASE     O(n log n)</a:t>
            </a:r>
          </a:p>
          <a:p>
            <a:pPr algn="l">
              <a:lnSpc>
                <a:spcPts val="3315"/>
              </a:lnSpc>
            </a:pPr>
            <a:r>
              <a:rPr lang="en-US" sz="1950">
                <a:solidFill>
                  <a:srgbClr val="243B53"/>
                </a:solidFill>
                <a:latin typeface="IBM Plex Mono"/>
                <a:ea typeface="IBM Plex Mono"/>
                <a:cs typeface="IBM Plex Mono"/>
                <a:sym typeface="IBM Plex Mono"/>
              </a:rPr>
              <a:t>WORST CASE       O(n log n)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01250" y="5133975"/>
            <a:ext cx="6191250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Space: O(n)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T(n) = 2T(n/2) + O(n)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102A43"/>
                </a:solidFill>
                <a:latin typeface="IBM Plex Mono"/>
                <a:ea typeface="IBM Plex Mono"/>
                <a:cs typeface="IBM Plex Mono"/>
                <a:sym typeface="IBM Plex Mono"/>
              </a:rPr>
              <a:t>Master theorem → O(n log n)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43000" y="5610225"/>
            <a:ext cx="6667500" cy="34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C. ADVANTAGES &amp; APPLICATIONS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81125" y="6429375"/>
            <a:ext cx="6667500" cy="146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 Guaranteed O(n log n) time</a:t>
            </a:r>
          </a:p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 Stable when implemented correctly</a:t>
            </a:r>
          </a:p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 Effective for large datasets</a:t>
            </a:r>
          </a:p>
          <a:p>
            <a:pPr algn="l">
              <a:lnSpc>
                <a:spcPts val="2936"/>
              </a:lnSpc>
            </a:pPr>
            <a:r>
              <a:rPr lang="en-US" sz="202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✓ Predictable performance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01250" y="6962775"/>
            <a:ext cx="6191250" cy="1990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APPLICATIONS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Large datasets • external sorting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linked lists • stable sorting needs</a:t>
            </a:r>
          </a:p>
          <a:p>
            <a:pPr algn="l">
              <a:lnSpc>
                <a:spcPts val="2625"/>
              </a:lnSpc>
            </a:pPr>
            <a:endParaRPr lang="en-US" sz="1875">
              <a:solidFill>
                <a:srgbClr val="243B53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LIMITATION</a:t>
            </a:r>
          </a:p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Requires O(n) extra array memory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767A5FD3-32E0-F49E-C34A-804A6D112B1B}"/>
              </a:ext>
            </a:extLst>
          </p:cNvPr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 of Merge Sort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146810"/>
            <a:ext cx="3827517" cy="47625"/>
            <a:chOff x="0" y="0"/>
            <a:chExt cx="5103355" cy="63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03355" cy="63500"/>
            </a:xfrm>
            <a:custGeom>
              <a:avLst/>
              <a:gdLst/>
              <a:ahLst/>
              <a:cxnLst/>
              <a:rect l="l" t="t" r="r" b="b"/>
              <a:pathLst>
                <a:path w="5103355" h="63500">
                  <a:moveTo>
                    <a:pt x="0" y="0"/>
                  </a:moveTo>
                  <a:lnTo>
                    <a:pt x="5103355" y="0"/>
                  </a:lnTo>
                  <a:lnTo>
                    <a:pt x="510335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03355" cy="101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47750" y="2047875"/>
            <a:ext cx="7143750" cy="271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Based on Divide and Conquer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Divides an array into smaller subarrays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Recursively sorts each subarray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Merges pieces into one sorted array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Best / average / worst: O(n log n)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Auxiliary space: O(n)</a:t>
            </a:r>
          </a:p>
          <a:p>
            <a:pPr algn="l">
              <a:lnSpc>
                <a:spcPts val="3110"/>
              </a:lnSpc>
            </a:pPr>
            <a:r>
              <a:rPr lang="en-US" sz="2175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Stable when equal elements are handled correctly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334500" y="2000250"/>
            <a:ext cx="7810500" cy="3238500"/>
            <a:chOff x="0" y="0"/>
            <a:chExt cx="10414000" cy="4318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14000" cy="4318000"/>
            </a:xfrm>
            <a:custGeom>
              <a:avLst/>
              <a:gdLst/>
              <a:ahLst/>
              <a:cxnLst/>
              <a:rect l="l" t="t" r="r" b="b"/>
              <a:pathLst>
                <a:path w="10414000" h="4318000">
                  <a:moveTo>
                    <a:pt x="0" y="0"/>
                  </a:moveTo>
                  <a:lnTo>
                    <a:pt x="10414000" y="0"/>
                  </a:lnTo>
                  <a:lnTo>
                    <a:pt x="10414000" y="4318000"/>
                  </a:lnTo>
                  <a:lnTo>
                    <a:pt x="0" y="4318000"/>
                  </a:lnTo>
                  <a:close/>
                </a:path>
              </a:pathLst>
            </a:custGeom>
            <a:solidFill>
              <a:srgbClr val="D9E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414000" cy="435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906000" y="2266950"/>
            <a:ext cx="6667500" cy="1732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2"/>
              </a:lnSpc>
            </a:pPr>
            <a:r>
              <a:rPr lang="en-US" sz="25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“Merge Sort demonstrates how dividing a complex problem into smaller subproblems can produce an efficient and reliable solution.”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62000" y="7334250"/>
            <a:ext cx="2857500" cy="857250"/>
            <a:chOff x="0" y="0"/>
            <a:chExt cx="3810000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UNSORTED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3667125" y="7762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" name="Group 15"/>
          <p:cNvGrpSpPr/>
          <p:nvPr/>
        </p:nvGrpSpPr>
        <p:grpSpPr>
          <a:xfrm>
            <a:off x="4238625" y="7334250"/>
            <a:ext cx="2857500" cy="857250"/>
            <a:chOff x="0" y="0"/>
            <a:chExt cx="3810000" cy="114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DIVIDE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7143750" y="7762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9" name="Group 19"/>
          <p:cNvGrpSpPr/>
          <p:nvPr/>
        </p:nvGrpSpPr>
        <p:grpSpPr>
          <a:xfrm>
            <a:off x="7715250" y="7334250"/>
            <a:ext cx="2857500" cy="857250"/>
            <a:chOff x="0" y="0"/>
            <a:chExt cx="3810000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 SMALLER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0620375" y="7762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3" name="Group 23"/>
          <p:cNvGrpSpPr/>
          <p:nvPr/>
        </p:nvGrpSpPr>
        <p:grpSpPr>
          <a:xfrm>
            <a:off x="11191875" y="7334250"/>
            <a:ext cx="2857500" cy="857250"/>
            <a:chOff x="0" y="0"/>
            <a:chExt cx="3810000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MERGE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14097000" y="7762875"/>
            <a:ext cx="523875" cy="0"/>
          </a:xfrm>
          <a:prstGeom prst="line">
            <a:avLst/>
          </a:prstGeom>
          <a:ln w="38100" cap="rnd">
            <a:solidFill>
              <a:srgbClr val="4AA8D8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7" name="Group 27"/>
          <p:cNvGrpSpPr/>
          <p:nvPr/>
        </p:nvGrpSpPr>
        <p:grpSpPr>
          <a:xfrm>
            <a:off x="14668500" y="7334250"/>
            <a:ext cx="2857500" cy="857250"/>
            <a:chOff x="0" y="0"/>
            <a:chExt cx="3810000" cy="1143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0000" cy="1143000"/>
            </a:xfrm>
            <a:custGeom>
              <a:avLst/>
              <a:gdLst/>
              <a:ahLst/>
              <a:cxnLst/>
              <a:rect l="l" t="t" r="r" b="b"/>
              <a:pathLst>
                <a:path w="3810000" h="1143000">
                  <a:moveTo>
                    <a:pt x="42333" y="0"/>
                  </a:moveTo>
                  <a:lnTo>
                    <a:pt x="3767667" y="0"/>
                  </a:lnTo>
                  <a:cubicBezTo>
                    <a:pt x="3778894" y="0"/>
                    <a:pt x="3789662" y="4460"/>
                    <a:pt x="3797601" y="12399"/>
                  </a:cubicBezTo>
                  <a:cubicBezTo>
                    <a:pt x="3805540" y="20338"/>
                    <a:pt x="3810000" y="31106"/>
                    <a:pt x="3810000" y="42333"/>
                  </a:cubicBezTo>
                  <a:lnTo>
                    <a:pt x="3810000" y="1100667"/>
                  </a:lnTo>
                  <a:cubicBezTo>
                    <a:pt x="3810000" y="1111894"/>
                    <a:pt x="3805540" y="1122662"/>
                    <a:pt x="3797601" y="1130601"/>
                  </a:cubicBezTo>
                  <a:cubicBezTo>
                    <a:pt x="3789662" y="1138540"/>
                    <a:pt x="3778894" y="1143000"/>
                    <a:pt x="3767667" y="1143000"/>
                  </a:cubicBezTo>
                  <a:lnTo>
                    <a:pt x="42333" y="1143000"/>
                  </a:lnTo>
                  <a:cubicBezTo>
                    <a:pt x="31106" y="1143000"/>
                    <a:pt x="20338" y="1138540"/>
                    <a:pt x="12399" y="1130601"/>
                  </a:cubicBezTo>
                  <a:cubicBezTo>
                    <a:pt x="4460" y="1122662"/>
                    <a:pt x="0" y="1111894"/>
                    <a:pt x="0" y="110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32"/>
                </a:lnSpc>
              </a:pPr>
              <a:r>
                <a:rPr lang="en-US" sz="1650" b="1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SORTED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14350"/>
            <a:ext cx="142875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lang="en-US" sz="40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Key Benefits and Final Understanding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181100"/>
            <a:ext cx="14287500" cy="2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725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Why Merge Sort scales better than simple quadratic sorting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1657350"/>
            <a:ext cx="1143000" cy="66675"/>
            <a:chOff x="0" y="0"/>
            <a:chExt cx="1524000" cy="889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0" cy="88900"/>
            </a:xfrm>
            <a:custGeom>
              <a:avLst/>
              <a:gdLst/>
              <a:ahLst/>
              <a:cxnLst/>
              <a:rect l="l" t="t" r="r" b="b"/>
              <a:pathLst>
                <a:path w="1524000" h="889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18A999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52500" y="2133600"/>
            <a:ext cx="6858000" cy="1935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Consistent performance regardless of input order</a:t>
            </a:r>
          </a:p>
          <a:p>
            <a:pPr algn="l">
              <a:lnSpc>
                <a:spcPts val="3108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Suitable for large arrays and linked lists</a:t>
            </a:r>
          </a:p>
          <a:p>
            <a:pPr algn="l">
              <a:lnSpc>
                <a:spcPts val="3108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Systematic merging of sorted sequences</a:t>
            </a:r>
          </a:p>
          <a:p>
            <a:pPr algn="l">
              <a:lnSpc>
                <a:spcPts val="3108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Stability preserves equal elements’ order</a:t>
            </a:r>
          </a:p>
          <a:p>
            <a:pPr algn="l">
              <a:lnSpc>
                <a:spcPts val="3108"/>
              </a:lnSpc>
            </a:pPr>
            <a:r>
              <a:rPr lang="en-US" sz="2100">
                <a:solidFill>
                  <a:srgbClr val="243B53"/>
                </a:solidFill>
                <a:latin typeface="Source Sans 3"/>
                <a:ea typeface="Source Sans 3"/>
                <a:cs typeface="Source Sans 3"/>
                <a:sym typeface="Source Sans 3"/>
              </a:rPr>
              <a:t>• Predictable complexity supports reliable design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2500" y="6191250"/>
            <a:ext cx="3238500" cy="1809750"/>
            <a:chOff x="0" y="0"/>
            <a:chExt cx="4318000" cy="241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18000" cy="2413000"/>
            </a:xfrm>
            <a:custGeom>
              <a:avLst/>
              <a:gdLst/>
              <a:ahLst/>
              <a:cxnLst/>
              <a:rect l="l" t="t" r="r" b="b"/>
              <a:pathLst>
                <a:path w="4318000" h="2413000">
                  <a:moveTo>
                    <a:pt x="0" y="0"/>
                  </a:moveTo>
                  <a:lnTo>
                    <a:pt x="4318000" y="0"/>
                  </a:lnTo>
                  <a:lnTo>
                    <a:pt x="4318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D8F4E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18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0" y="6191250"/>
            <a:ext cx="3238500" cy="1809750"/>
            <a:chOff x="0" y="0"/>
            <a:chExt cx="4318000" cy="241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18000" cy="2413000"/>
            </a:xfrm>
            <a:custGeom>
              <a:avLst/>
              <a:gdLst/>
              <a:ahLst/>
              <a:cxnLst/>
              <a:rect l="l" t="t" r="r" b="b"/>
              <a:pathLst>
                <a:path w="4318000" h="2413000">
                  <a:moveTo>
                    <a:pt x="0" y="0"/>
                  </a:moveTo>
                  <a:lnTo>
                    <a:pt x="4318000" y="0"/>
                  </a:lnTo>
                  <a:lnTo>
                    <a:pt x="4318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E9E2FA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318000" cy="245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43000" y="6477000"/>
            <a:ext cx="2857500" cy="103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sz="202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MERGE SORT</a:t>
            </a:r>
          </a:p>
          <a:p>
            <a:pPr algn="ctr">
              <a:lnSpc>
                <a:spcPts val="2733"/>
              </a:lnSpc>
            </a:pPr>
            <a:r>
              <a:rPr lang="en-US" sz="202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O(n log n) time</a:t>
            </a:r>
          </a:p>
          <a:p>
            <a:pPr algn="ctr">
              <a:lnSpc>
                <a:spcPts val="2733"/>
              </a:lnSpc>
            </a:pPr>
            <a:r>
              <a:rPr lang="en-US" sz="2025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O(n) space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62500" y="6477000"/>
            <a:ext cx="2857500" cy="101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BUBBLE SORT</a:t>
            </a:r>
          </a:p>
          <a:p>
            <a:pPr algn="ctr">
              <a:lnSpc>
                <a:spcPts val="2632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O(n²) average &amp; worst</a:t>
            </a:r>
          </a:p>
          <a:p>
            <a:pPr algn="ctr">
              <a:lnSpc>
                <a:spcPts val="2632"/>
              </a:lnSpc>
            </a:pPr>
            <a:r>
              <a:rPr lang="en-US" sz="1950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O(1) space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077" y="1385894"/>
            <a:ext cx="9622597" cy="7610463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382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Generated using Canva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067" y="3427107"/>
            <a:ext cx="18171866" cy="2013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17"/>
              </a:lnSpc>
            </a:pPr>
            <a:r>
              <a:rPr lang="en-US" sz="11084" b="1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9782175"/>
            <a:ext cx="164592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627D9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 and Analysis of Algorithms | Merge Sort    •    Generated using Canva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1610</Words>
  <Application>Microsoft Office PowerPoint</Application>
  <PresentationFormat>Custom</PresentationFormat>
  <Paragraphs>250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</vt:lpstr>
      <vt:lpstr>Arial</vt:lpstr>
      <vt:lpstr>Source Sans 3</vt:lpstr>
      <vt:lpstr>Source Sans 3 Bold</vt:lpstr>
      <vt:lpstr>IBM Plex Mono Bold</vt:lpstr>
      <vt:lpstr>IBM Plex Mono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DAA CA-3</dc:title>
  <dc:creator>Sumedha Vanerkar</dc:creator>
  <cp:lastModifiedBy>Sumedha Vanerkar</cp:lastModifiedBy>
  <cp:revision>3</cp:revision>
  <dcterms:created xsi:type="dcterms:W3CDTF">2006-08-16T00:00:00Z</dcterms:created>
  <dcterms:modified xsi:type="dcterms:W3CDTF">2026-10-19T16:10:58Z</dcterms:modified>
  <dc:identifier>DAHX_sWQmuw</dc:identifier>
</cp:coreProperties>
</file>